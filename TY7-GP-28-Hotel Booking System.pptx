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6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132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3.xml"/><Relationship Id="rId3" Type="http://schemas.openxmlformats.org/officeDocument/2006/relationships/image" Target="../media/image2.png"/><Relationship Id="rId7" Type="http://schemas.openxmlformats.org/officeDocument/2006/relationships/slide" Target="slide5.xml"/><Relationship Id="rId12" Type="http://schemas.openxmlformats.org/officeDocument/2006/relationships/slide" Target="slide12.xml"/><Relationship Id="rId2" Type="http://schemas.openxmlformats.org/officeDocument/2006/relationships/notesSlide" Target="../notesSlides/notesSlide2.xml"/><Relationship Id="rId16" Type="http://schemas.openxmlformats.org/officeDocument/2006/relationships/slide" Target="slide20.xml"/><Relationship Id="rId1" Type="http://schemas.openxmlformats.org/officeDocument/2006/relationships/slideLayout" Target="../slideLayouts/slideLayout2.xml"/><Relationship Id="rId6" Type="http://schemas.openxmlformats.org/officeDocument/2006/relationships/slide" Target="slide4.xml"/><Relationship Id="rId11" Type="http://schemas.openxmlformats.org/officeDocument/2006/relationships/slide" Target="slide11.xml"/><Relationship Id="rId5" Type="http://schemas.openxmlformats.org/officeDocument/2006/relationships/slide" Target="slide3.xml"/><Relationship Id="rId15" Type="http://schemas.openxmlformats.org/officeDocument/2006/relationships/slide" Target="slide15.xml"/><Relationship Id="rId10" Type="http://schemas.openxmlformats.org/officeDocument/2006/relationships/slide" Target="slide10.xml"/><Relationship Id="rId4" Type="http://schemas.openxmlformats.org/officeDocument/2006/relationships/image" Target="../media/image5.png"/><Relationship Id="rId9" Type="http://schemas.openxmlformats.org/officeDocument/2006/relationships/slide" Target="slide8.xml"/><Relationship Id="rId14" Type="http://schemas.openxmlformats.org/officeDocument/2006/relationships/slide" Target="slide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6.png"/><Relationship Id="rId4" Type="http://schemas.openxmlformats.org/officeDocument/2006/relationships/image" Target="../media/image48.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2.png"/><Relationship Id="rId7"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1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14.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2.png"/><Relationship Id="rId7" Type="http://schemas.openxmlformats.org/officeDocument/2006/relationships/image" Target="../media/image7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7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1531"/>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31531"/>
            <a:ext cx="14630400" cy="2322576"/>
          </a:xfrm>
          <a:prstGeom prst="rect">
            <a:avLst/>
          </a:prstGeom>
        </p:spPr>
      </p:pic>
      <p:pic>
        <p:nvPicPr>
          <p:cNvPr id="4" name="Image 2" descr="preencoded.png"/>
          <p:cNvPicPr>
            <a:picLocks noChangeAspect="1"/>
          </p:cNvPicPr>
          <p:nvPr/>
        </p:nvPicPr>
        <p:blipFill>
          <a:blip r:embed="rId5"/>
          <a:stretch>
            <a:fillRect/>
          </a:stretch>
        </p:blipFill>
        <p:spPr>
          <a:xfrm>
            <a:off x="685800" y="5046621"/>
            <a:ext cx="13267944" cy="27432"/>
          </a:xfrm>
          <a:prstGeom prst="rect">
            <a:avLst/>
          </a:prstGeom>
        </p:spPr>
      </p:pic>
      <p:sp>
        <p:nvSpPr>
          <p:cNvPr id="6" name="Text 0"/>
          <p:cNvSpPr/>
          <p:nvPr/>
        </p:nvSpPr>
        <p:spPr>
          <a:xfrm>
            <a:off x="1170432" y="5680158"/>
            <a:ext cx="2642616" cy="1109262"/>
          </a:xfrm>
          <a:prstGeom prst="rect">
            <a:avLst/>
          </a:prstGeom>
          <a:noFill/>
          <a:ln/>
        </p:spPr>
        <p:txBody>
          <a:bodyPr wrap="none" lIns="0" tIns="0" rIns="0" bIns="0" rtlCol="0" anchor="ctr"/>
          <a:lstStyle/>
          <a:p>
            <a:pPr marL="0" indent="0" algn="l">
              <a:lnSpc>
                <a:spcPts val="2680"/>
              </a:lnSpc>
              <a:buNone/>
            </a:pPr>
            <a:r>
              <a:rPr lang="en-US" sz="1920" dirty="0" smtClean="0">
                <a:solidFill>
                  <a:schemeClr val="bg1"/>
                </a:solidFill>
              </a:rPr>
              <a:t>Submitted BY :</a:t>
            </a:r>
          </a:p>
          <a:p>
            <a:pPr marL="0" indent="0" algn="l">
              <a:lnSpc>
                <a:spcPts val="2680"/>
              </a:lnSpc>
              <a:buNone/>
            </a:pPr>
            <a:r>
              <a:rPr lang="en-US" sz="1920" dirty="0" smtClean="0">
                <a:solidFill>
                  <a:schemeClr val="bg1"/>
                </a:solidFill>
              </a:rPr>
              <a:t>709 : </a:t>
            </a:r>
            <a:r>
              <a:rPr lang="en-US" sz="1920" dirty="0" err="1" smtClean="0">
                <a:solidFill>
                  <a:schemeClr val="bg1"/>
                </a:solidFill>
              </a:rPr>
              <a:t>Yanshu</a:t>
            </a:r>
            <a:r>
              <a:rPr lang="en-US" sz="1920" dirty="0" smtClean="0">
                <a:solidFill>
                  <a:schemeClr val="bg1"/>
                </a:solidFill>
              </a:rPr>
              <a:t> </a:t>
            </a:r>
            <a:r>
              <a:rPr lang="en-US" sz="1920" dirty="0" err="1" smtClean="0">
                <a:solidFill>
                  <a:schemeClr val="bg1"/>
                </a:solidFill>
              </a:rPr>
              <a:t>Dankhara</a:t>
            </a:r>
            <a:endParaRPr lang="en-US" sz="1920" dirty="0" smtClean="0">
              <a:solidFill>
                <a:schemeClr val="bg1"/>
              </a:solidFill>
            </a:endParaRPr>
          </a:p>
          <a:p>
            <a:pPr marL="0" indent="0" algn="l">
              <a:lnSpc>
                <a:spcPts val="2680"/>
              </a:lnSpc>
              <a:buNone/>
            </a:pPr>
            <a:r>
              <a:rPr lang="en-US" sz="1920" dirty="0" smtClean="0">
                <a:solidFill>
                  <a:schemeClr val="bg1"/>
                </a:solidFill>
              </a:rPr>
              <a:t>734 : Het </a:t>
            </a:r>
            <a:r>
              <a:rPr lang="en-US" sz="1920" dirty="0" err="1" smtClean="0">
                <a:solidFill>
                  <a:schemeClr val="bg1"/>
                </a:solidFill>
              </a:rPr>
              <a:t>Maniya</a:t>
            </a:r>
            <a:endParaRPr lang="en-US" sz="1920" dirty="0" smtClean="0">
              <a:solidFill>
                <a:schemeClr val="bg1"/>
              </a:solidFill>
            </a:endParaRPr>
          </a:p>
          <a:p>
            <a:pPr marL="0" indent="0" algn="l">
              <a:lnSpc>
                <a:spcPts val="2680"/>
              </a:lnSpc>
              <a:buNone/>
            </a:pPr>
            <a:r>
              <a:rPr lang="en-US" sz="1920" dirty="0" smtClean="0">
                <a:solidFill>
                  <a:schemeClr val="bg1"/>
                </a:solidFill>
              </a:rPr>
              <a:t>744 : Avadh Narola</a:t>
            </a:r>
            <a:endParaRPr lang="en-US" sz="1920" dirty="0">
              <a:solidFill>
                <a:schemeClr val="bg1"/>
              </a:solidFill>
            </a:endParaRPr>
          </a:p>
        </p:txBody>
      </p:sp>
      <p:sp>
        <p:nvSpPr>
          <p:cNvPr id="7" name="Text 1"/>
          <p:cNvSpPr/>
          <p:nvPr/>
        </p:nvSpPr>
        <p:spPr>
          <a:xfrm>
            <a:off x="1170432" y="5897880"/>
            <a:ext cx="2642616" cy="210312"/>
          </a:xfrm>
          <a:prstGeom prst="rect">
            <a:avLst/>
          </a:prstGeom>
          <a:noFill/>
          <a:ln/>
        </p:spPr>
        <p:txBody>
          <a:bodyPr wrap="none" lIns="0" tIns="0" rIns="0" bIns="0" rtlCol="0" anchor="ctr"/>
          <a:lstStyle/>
          <a:p>
            <a:pPr marL="0" indent="0" algn="l">
              <a:lnSpc>
                <a:spcPts val="1610"/>
              </a:lnSpc>
              <a:buNone/>
            </a:pPr>
            <a:endParaRPr lang="en-US" sz="1150" dirty="0"/>
          </a:p>
        </p:txBody>
      </p:sp>
      <p:sp>
        <p:nvSpPr>
          <p:cNvPr id="8" name="Text 2"/>
          <p:cNvSpPr/>
          <p:nvPr/>
        </p:nvSpPr>
        <p:spPr>
          <a:xfrm>
            <a:off x="685800" y="3878475"/>
            <a:ext cx="13267944" cy="841248"/>
          </a:xfrm>
          <a:prstGeom prst="rect">
            <a:avLst/>
          </a:prstGeom>
          <a:noFill/>
          <a:ln/>
        </p:spPr>
        <p:txBody>
          <a:bodyPr wrap="none" lIns="0" tIns="0" rIns="0" bIns="0" rtlCol="0" anchor="ctr"/>
          <a:lstStyle/>
          <a:p>
            <a:pPr marL="0" indent="0" algn="l">
              <a:lnSpc>
                <a:spcPts val="6620"/>
              </a:lnSpc>
              <a:buNone/>
            </a:pPr>
            <a:r>
              <a:rPr lang="en-US" sz="5290" dirty="0">
                <a:solidFill>
                  <a:srgbClr val="FFFFFF"/>
                </a:solidFill>
                <a:latin typeface="Bahnschrift" panose="020B0502040204020203" pitchFamily="34" charset="0"/>
                <a:ea typeface="思源黑体-思源黑体-Bold" pitchFamily="34" charset="-122"/>
                <a:cs typeface="思源黑体-思源黑体-Bold" pitchFamily="34" charset="-120"/>
              </a:rPr>
              <a:t>Hotel Booking </a:t>
            </a:r>
            <a:r>
              <a:rPr lang="en-US" sz="5290" dirty="0" smtClean="0">
                <a:solidFill>
                  <a:srgbClr val="FFFFFF"/>
                </a:solidFill>
                <a:latin typeface="Bahnschrift" panose="020B0502040204020203" pitchFamily="34" charset="0"/>
                <a:ea typeface="思源黑体-思源黑体-Bold" pitchFamily="34" charset="-122"/>
                <a:cs typeface="思源黑体-思源黑体-Bold" pitchFamily="34" charset="-120"/>
              </a:rPr>
              <a:t>System </a:t>
            </a:r>
            <a:r>
              <a:rPr lang="en-US" sz="5290" dirty="0">
                <a:solidFill>
                  <a:srgbClr val="FFFFFF"/>
                </a:solidFill>
                <a:latin typeface="Bahnschrift" panose="020B0502040204020203" pitchFamily="34" charset="0"/>
                <a:ea typeface="思源黑体-思源黑体-Bold" pitchFamily="34" charset="-122"/>
                <a:cs typeface="思源黑体-思源黑体-Bold" pitchFamily="34" charset="-120"/>
              </a:rPr>
              <a:t>- Project Report</a:t>
            </a:r>
            <a:endParaRPr lang="en-US" sz="5290" dirty="0">
              <a:latin typeface="Bahnschrift" panose="020B0502040204020203" pitchFamily="34" charset="0"/>
            </a:endParaRPr>
          </a:p>
        </p:txBody>
      </p:sp>
      <p:sp>
        <p:nvSpPr>
          <p:cNvPr id="9" name="Text 0"/>
          <p:cNvSpPr/>
          <p:nvPr/>
        </p:nvSpPr>
        <p:spPr>
          <a:xfrm>
            <a:off x="11065922" y="5684730"/>
            <a:ext cx="2642616" cy="826429"/>
          </a:xfrm>
          <a:prstGeom prst="rect">
            <a:avLst/>
          </a:prstGeom>
          <a:noFill/>
          <a:ln/>
        </p:spPr>
        <p:txBody>
          <a:bodyPr wrap="none" lIns="0" tIns="0" rIns="0" bIns="0" rtlCol="0" anchor="ctr"/>
          <a:lstStyle/>
          <a:p>
            <a:pPr marL="0" indent="0" algn="l">
              <a:lnSpc>
                <a:spcPts val="2680"/>
              </a:lnSpc>
              <a:buNone/>
            </a:pPr>
            <a:r>
              <a:rPr lang="en-US" sz="1920" dirty="0" smtClean="0">
                <a:solidFill>
                  <a:schemeClr val="bg1"/>
                </a:solidFill>
              </a:rPr>
              <a:t>Guided BY :</a:t>
            </a:r>
          </a:p>
          <a:p>
            <a:pPr marL="0" indent="0" algn="l">
              <a:lnSpc>
                <a:spcPts val="2680"/>
              </a:lnSpc>
              <a:buNone/>
            </a:pPr>
            <a:r>
              <a:rPr lang="en-US" sz="1920" dirty="0" smtClean="0">
                <a:solidFill>
                  <a:schemeClr val="bg1"/>
                </a:solidFill>
              </a:rPr>
              <a:t>Viral B </a:t>
            </a:r>
            <a:r>
              <a:rPr lang="en-US" sz="1920" dirty="0" err="1" smtClean="0">
                <a:solidFill>
                  <a:schemeClr val="bg1"/>
                </a:solidFill>
              </a:rPr>
              <a:t>Polishvala</a:t>
            </a:r>
            <a:endParaRPr lang="en-US" sz="1920" dirty="0" smtClean="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685800" y="1405636"/>
            <a:ext cx="13267944" cy="841248"/>
          </a:xfrm>
          <a:prstGeom prst="rect">
            <a:avLst/>
          </a:prstGeom>
          <a:noFill/>
          <a:ln/>
        </p:spPr>
        <p:txBody>
          <a:bodyPr wrap="none" lIns="0" tIns="0" rIns="0" bIns="0" rtlCol="0" anchor="ctr"/>
          <a:lstStyle/>
          <a:p>
            <a:pPr marL="0" indent="0" algn="ctr">
              <a:lnSpc>
                <a:spcPts val="6620"/>
              </a:lnSpc>
              <a:buNone/>
            </a:pPr>
            <a:r>
              <a:rPr lang="en-US" sz="5290" dirty="0">
                <a:solidFill>
                  <a:srgbClr val="FFFFFF"/>
                </a:solidFill>
                <a:latin typeface="思源黑体-思源黑体-Bold" pitchFamily="34" charset="0"/>
                <a:ea typeface="思源黑体-思源黑体-Bold" pitchFamily="34" charset="-122"/>
                <a:cs typeface="思源黑体-思源黑体-Bold" pitchFamily="34" charset="-120"/>
              </a:rPr>
              <a:t>CONTENTS</a:t>
            </a:r>
            <a:endParaRPr lang="en-US" sz="5290" dirty="0"/>
          </a:p>
        </p:txBody>
      </p:sp>
      <p:sp>
        <p:nvSpPr>
          <p:cNvPr id="5" name="Text 1"/>
          <p:cNvSpPr/>
          <p:nvPr/>
        </p:nvSpPr>
        <p:spPr>
          <a:xfrm>
            <a:off x="896112" y="2862072"/>
            <a:ext cx="2752344"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6" name="Text 2"/>
          <p:cNvSpPr/>
          <p:nvPr/>
        </p:nvSpPr>
        <p:spPr>
          <a:xfrm>
            <a:off x="896112" y="4389120"/>
            <a:ext cx="2752344"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7" name="Text 3"/>
          <p:cNvSpPr/>
          <p:nvPr/>
        </p:nvSpPr>
        <p:spPr>
          <a:xfrm>
            <a:off x="4261104" y="2862072"/>
            <a:ext cx="2752344"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8" name="Text 4"/>
          <p:cNvSpPr/>
          <p:nvPr/>
        </p:nvSpPr>
        <p:spPr>
          <a:xfrm>
            <a:off x="896112" y="5614416"/>
            <a:ext cx="2752344"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9" name="Text 5"/>
          <p:cNvSpPr/>
          <p:nvPr/>
        </p:nvSpPr>
        <p:spPr>
          <a:xfrm>
            <a:off x="4261104" y="4389120"/>
            <a:ext cx="2752344" cy="612648"/>
          </a:xfrm>
          <a:prstGeom prst="rect">
            <a:avLst/>
          </a:prstGeom>
          <a:noFill/>
          <a:ln/>
        </p:spPr>
        <p:txBody>
          <a:bodyPr wrap="square" lIns="0" tIns="0" rIns="0" bIns="0" rtlCol="0" anchor="ctr"/>
          <a:lstStyle/>
          <a:p>
            <a:pPr marL="0" indent="0" algn="l">
              <a:lnSpc>
                <a:spcPts val="2400"/>
              </a:lnSpc>
              <a:buNone/>
            </a:pPr>
            <a:endParaRPr lang="en-US" sz="1920" dirty="0"/>
          </a:p>
        </p:txBody>
      </p:sp>
      <p:sp>
        <p:nvSpPr>
          <p:cNvPr id="10" name="Text 6"/>
          <p:cNvSpPr/>
          <p:nvPr/>
        </p:nvSpPr>
        <p:spPr>
          <a:xfrm>
            <a:off x="4261104" y="5614416"/>
            <a:ext cx="2752344"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11" name="Text 7"/>
          <p:cNvSpPr/>
          <p:nvPr/>
        </p:nvSpPr>
        <p:spPr>
          <a:xfrm>
            <a:off x="7626096" y="2862072"/>
            <a:ext cx="2752344"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12" name="Text 8"/>
          <p:cNvSpPr/>
          <p:nvPr/>
        </p:nvSpPr>
        <p:spPr>
          <a:xfrm>
            <a:off x="7626096" y="4389120"/>
            <a:ext cx="2752344" cy="612648"/>
          </a:xfrm>
          <a:prstGeom prst="rect">
            <a:avLst/>
          </a:prstGeom>
          <a:noFill/>
          <a:ln/>
        </p:spPr>
        <p:txBody>
          <a:bodyPr wrap="square" lIns="0" tIns="0" rIns="0" bIns="0" rtlCol="0" anchor="ctr"/>
          <a:lstStyle/>
          <a:p>
            <a:pPr marL="0" indent="0" algn="l">
              <a:lnSpc>
                <a:spcPts val="2400"/>
              </a:lnSpc>
              <a:buNone/>
            </a:pPr>
            <a:endParaRPr lang="en-US" sz="1920" dirty="0"/>
          </a:p>
        </p:txBody>
      </p:sp>
      <p:sp>
        <p:nvSpPr>
          <p:cNvPr id="13" name="Text 9"/>
          <p:cNvSpPr/>
          <p:nvPr/>
        </p:nvSpPr>
        <p:spPr>
          <a:xfrm>
            <a:off x="7626096" y="5614416"/>
            <a:ext cx="2752344" cy="612648"/>
          </a:xfrm>
          <a:prstGeom prst="rect">
            <a:avLst/>
          </a:prstGeom>
          <a:noFill/>
          <a:ln/>
        </p:spPr>
        <p:txBody>
          <a:bodyPr wrap="square" lIns="0" tIns="0" rIns="0" bIns="0" rtlCol="0" anchor="ctr"/>
          <a:lstStyle/>
          <a:p>
            <a:pPr marL="0" indent="0" algn="l">
              <a:lnSpc>
                <a:spcPts val="2400"/>
              </a:lnSpc>
              <a:buNone/>
            </a:pPr>
            <a:endParaRPr lang="en-US" sz="1920" dirty="0"/>
          </a:p>
        </p:txBody>
      </p:sp>
      <p:sp>
        <p:nvSpPr>
          <p:cNvPr id="14" name="Text 10"/>
          <p:cNvSpPr/>
          <p:nvPr/>
        </p:nvSpPr>
        <p:spPr>
          <a:xfrm>
            <a:off x="10991088" y="2862072"/>
            <a:ext cx="2752344" cy="914400"/>
          </a:xfrm>
          <a:prstGeom prst="rect">
            <a:avLst/>
          </a:prstGeom>
          <a:noFill/>
          <a:ln/>
        </p:spPr>
        <p:txBody>
          <a:bodyPr wrap="square" lIns="0" tIns="0" rIns="0" bIns="0" rtlCol="0" anchor="ctr"/>
          <a:lstStyle/>
          <a:p>
            <a:pPr marL="0" indent="0" algn="l">
              <a:lnSpc>
                <a:spcPts val="2400"/>
              </a:lnSpc>
              <a:buNone/>
            </a:pPr>
            <a:endParaRPr lang="en-US" sz="1920" dirty="0"/>
          </a:p>
        </p:txBody>
      </p:sp>
      <p:sp>
        <p:nvSpPr>
          <p:cNvPr id="15" name="Text 11"/>
          <p:cNvSpPr/>
          <p:nvPr/>
        </p:nvSpPr>
        <p:spPr>
          <a:xfrm>
            <a:off x="10991088" y="4389120"/>
            <a:ext cx="2752344" cy="310896"/>
          </a:xfrm>
          <a:prstGeom prst="rect">
            <a:avLst/>
          </a:prstGeom>
          <a:noFill/>
          <a:ln/>
        </p:spPr>
        <p:txBody>
          <a:bodyPr wrap="none" lIns="0" tIns="0" rIns="0" bIns="0" rtlCol="0" anchor="ctr"/>
          <a:lstStyle/>
          <a:p>
            <a:pPr marL="0" indent="0" algn="l">
              <a:lnSpc>
                <a:spcPts val="2400"/>
              </a:lnSpc>
              <a:buNone/>
            </a:pPr>
            <a:endParaRPr lang="en-US" sz="1920" dirty="0"/>
          </a:p>
        </p:txBody>
      </p:sp>
      <p:sp>
        <p:nvSpPr>
          <p:cNvPr id="16" name="Text 12"/>
          <p:cNvSpPr/>
          <p:nvPr/>
        </p:nvSpPr>
        <p:spPr>
          <a:xfrm>
            <a:off x="10991088" y="5614416"/>
            <a:ext cx="2752344" cy="310896"/>
          </a:xfrm>
          <a:prstGeom prst="rect">
            <a:avLst/>
          </a:prstGeom>
          <a:noFill/>
          <a:ln/>
        </p:spPr>
        <p:txBody>
          <a:bodyPr wrap="none" lIns="0" tIns="0" rIns="0" bIns="0" rtlCol="0" anchor="ctr"/>
          <a:lstStyle/>
          <a:p>
            <a:pPr marL="0" indent="0" algn="l">
              <a:lnSpc>
                <a:spcPts val="2400"/>
              </a:lnSpc>
              <a:buNone/>
            </a:pPr>
            <a:endParaRPr lang="en-US" sz="1920" dirty="0"/>
          </a:p>
        </p:txBody>
      </p:sp>
      <p:graphicFrame>
        <p:nvGraphicFramePr>
          <p:cNvPr id="19" name="Table 18"/>
          <p:cNvGraphicFramePr>
            <a:graphicFrameLocks noGrp="1"/>
          </p:cNvGraphicFramePr>
          <p:nvPr>
            <p:extLst>
              <p:ext uri="{D42A27DB-BD31-4B8C-83A1-F6EECF244321}">
                <p14:modId xmlns:p14="http://schemas.microsoft.com/office/powerpoint/2010/main" val="4242969617"/>
              </p:ext>
            </p:extLst>
          </p:nvPr>
        </p:nvGraphicFramePr>
        <p:xfrm>
          <a:off x="4363054" y="2438908"/>
          <a:ext cx="5904291" cy="4933442"/>
        </p:xfrm>
        <a:graphic>
          <a:graphicData uri="http://schemas.openxmlformats.org/drawingml/2006/table">
            <a:tbl>
              <a:tblPr firstRow="1" bandRow="1">
                <a:tableStyleId>{F5AB1C69-6EDB-4FF4-983F-18BD219EF322}</a:tableStyleId>
              </a:tblPr>
              <a:tblGrid>
                <a:gridCol w="5904291">
                  <a:extLst>
                    <a:ext uri="{9D8B030D-6E8A-4147-A177-3AD203B41FA5}">
                      <a16:colId xmlns:a16="http://schemas.microsoft.com/office/drawing/2014/main" val="1569041413"/>
                    </a:ext>
                  </a:extLst>
                </a:gridCol>
              </a:tblGrid>
              <a:tr h="370840">
                <a:tc>
                  <a:txBody>
                    <a:bodyPr/>
                    <a:lstStyle/>
                    <a:p>
                      <a:endParaRPr lang="en-IN" dirty="0"/>
                    </a:p>
                  </a:txBody>
                  <a:tcPr/>
                </a:tc>
                <a:extLst>
                  <a:ext uri="{0D108BD9-81ED-4DB2-BD59-A6C34878D82A}">
                    <a16:rowId xmlns:a16="http://schemas.microsoft.com/office/drawing/2014/main" val="596055305"/>
                  </a:ext>
                </a:extLst>
              </a:tr>
              <a:tr h="370840">
                <a:tc>
                  <a:txBody>
                    <a:bodyPr/>
                    <a:lstStyle/>
                    <a:p>
                      <a:pPr marL="342900" indent="-342900" algn="l">
                        <a:lnSpc>
                          <a:spcPts val="2400"/>
                        </a:lnSpc>
                        <a:buFont typeface="+mj-lt"/>
                        <a:buAutoNum type="arabicPeriod"/>
                      </a:pPr>
                      <a:r>
                        <a:rPr lang="en-US" sz="1800" b="0" dirty="0" smtClean="0"/>
                        <a:t> </a:t>
                      </a:r>
                      <a:r>
                        <a:rPr lang="en-US" sz="1800" b="0" dirty="0" smtClean="0">
                          <a:hlinkClick r:id="rId5" action="ppaction://hlinksldjump"/>
                        </a:rPr>
                        <a:t>Introduction</a:t>
                      </a:r>
                      <a:endParaRPr lang="en-US" sz="1800" b="0" dirty="0"/>
                    </a:p>
                  </a:txBody>
                  <a:tcPr/>
                </a:tc>
                <a:extLst>
                  <a:ext uri="{0D108BD9-81ED-4DB2-BD59-A6C34878D82A}">
                    <a16:rowId xmlns:a16="http://schemas.microsoft.com/office/drawing/2014/main" val="2366347433"/>
                  </a:ext>
                </a:extLst>
              </a:tr>
              <a:tr h="370840">
                <a:tc>
                  <a:txBody>
                    <a:bodyPr/>
                    <a:lstStyle/>
                    <a:p>
                      <a:pPr marL="0" indent="0" algn="l">
                        <a:lnSpc>
                          <a:spcPts val="2400"/>
                        </a:lnSpc>
                        <a:buNone/>
                      </a:pPr>
                      <a:r>
                        <a:rPr lang="en-US" sz="1800" b="0" dirty="0" smtClean="0"/>
                        <a:t>2</a:t>
                      </a:r>
                      <a:r>
                        <a:rPr lang="en-US" sz="1800" b="0" dirty="0" smtClean="0"/>
                        <a:t>.    </a:t>
                      </a:r>
                      <a:r>
                        <a:rPr lang="en-US" sz="1800" b="0" dirty="0" smtClean="0">
                          <a:hlinkClick r:id="rId6" action="ppaction://hlinksldjump"/>
                        </a:rPr>
                        <a:t>Project </a:t>
                      </a:r>
                      <a:r>
                        <a:rPr lang="en-US" sz="1800" b="0" dirty="0" smtClean="0">
                          <a:hlinkClick r:id="rId6" action="ppaction://hlinksldjump"/>
                        </a:rPr>
                        <a:t>Profile</a:t>
                      </a:r>
                      <a:endParaRPr lang="en-US" sz="1800" b="0" dirty="0"/>
                    </a:p>
                  </a:txBody>
                  <a:tcPr/>
                </a:tc>
                <a:extLst>
                  <a:ext uri="{0D108BD9-81ED-4DB2-BD59-A6C34878D82A}">
                    <a16:rowId xmlns:a16="http://schemas.microsoft.com/office/drawing/2014/main" val="1328821171"/>
                  </a:ext>
                </a:extLst>
              </a:tr>
              <a:tr h="370840">
                <a:tc>
                  <a:txBody>
                    <a:bodyPr/>
                    <a:lstStyle/>
                    <a:p>
                      <a:pPr marL="0" indent="0" algn="l">
                        <a:lnSpc>
                          <a:spcPts val="2400"/>
                        </a:lnSpc>
                        <a:buNone/>
                      </a:pPr>
                      <a:r>
                        <a:rPr lang="en-US" sz="1800" b="0" dirty="0" smtClean="0"/>
                        <a:t>3. </a:t>
                      </a:r>
                      <a:r>
                        <a:rPr lang="en-US" sz="1800" b="0" dirty="0" smtClean="0"/>
                        <a:t>   </a:t>
                      </a:r>
                      <a:r>
                        <a:rPr lang="en-US" sz="1800" b="0" dirty="0" smtClean="0">
                          <a:hlinkClick r:id="rId7" action="ppaction://hlinksldjump"/>
                        </a:rPr>
                        <a:t>Core </a:t>
                      </a:r>
                      <a:r>
                        <a:rPr lang="en-US" sz="1800" b="0" dirty="0" smtClean="0">
                          <a:hlinkClick r:id="rId7" action="ppaction://hlinksldjump"/>
                        </a:rPr>
                        <a:t>Objectives</a:t>
                      </a:r>
                      <a:endParaRPr lang="en-US" sz="1800" b="0" dirty="0"/>
                    </a:p>
                  </a:txBody>
                  <a:tcPr/>
                </a:tc>
                <a:extLst>
                  <a:ext uri="{0D108BD9-81ED-4DB2-BD59-A6C34878D82A}">
                    <a16:rowId xmlns:a16="http://schemas.microsoft.com/office/drawing/2014/main" val="1571720001"/>
                  </a:ext>
                </a:extLst>
              </a:tr>
              <a:tr h="370840">
                <a:tc>
                  <a:txBody>
                    <a:bodyPr/>
                    <a:lstStyle/>
                    <a:p>
                      <a:pPr marL="0" indent="0" algn="l">
                        <a:lnSpc>
                          <a:spcPts val="2400"/>
                        </a:lnSpc>
                        <a:buNone/>
                      </a:pPr>
                      <a:r>
                        <a:rPr lang="en-US" sz="1800" b="0" dirty="0" smtClean="0"/>
                        <a:t>4. </a:t>
                      </a:r>
                      <a:r>
                        <a:rPr lang="en-US" sz="1800" b="0" dirty="0" smtClean="0"/>
                        <a:t>   </a:t>
                      </a:r>
                      <a:r>
                        <a:rPr lang="en-US" sz="1800" b="0" dirty="0" smtClean="0">
                          <a:hlinkClick r:id="rId8" action="ppaction://hlinksldjump"/>
                        </a:rPr>
                        <a:t>System </a:t>
                      </a:r>
                      <a:r>
                        <a:rPr lang="en-US" sz="1800" b="0" dirty="0" smtClean="0">
                          <a:hlinkClick r:id="rId8" action="ppaction://hlinksldjump"/>
                        </a:rPr>
                        <a:t>Architecture: User &amp; Admin Panels</a:t>
                      </a:r>
                      <a:endParaRPr lang="en-US" sz="1800" b="0" dirty="0"/>
                    </a:p>
                  </a:txBody>
                  <a:tcPr/>
                </a:tc>
                <a:extLst>
                  <a:ext uri="{0D108BD9-81ED-4DB2-BD59-A6C34878D82A}">
                    <a16:rowId xmlns:a16="http://schemas.microsoft.com/office/drawing/2014/main" val="4062044250"/>
                  </a:ext>
                </a:extLst>
              </a:tr>
              <a:tr h="370840">
                <a:tc>
                  <a:txBody>
                    <a:bodyPr/>
                    <a:lstStyle/>
                    <a:p>
                      <a:pPr marL="0" indent="0" algn="l">
                        <a:lnSpc>
                          <a:spcPts val="2400"/>
                        </a:lnSpc>
                        <a:buNone/>
                      </a:pPr>
                      <a:r>
                        <a:rPr lang="en-US" sz="1800" b="0" dirty="0" smtClean="0"/>
                        <a:t>5. </a:t>
                      </a:r>
                      <a:r>
                        <a:rPr lang="en-US" sz="1800" b="0" dirty="0" smtClean="0"/>
                        <a:t>   </a:t>
                      </a:r>
                      <a:r>
                        <a:rPr lang="en-US" sz="1800" b="0" dirty="0" smtClean="0">
                          <a:hlinkClick r:id="rId9" action="ppaction://hlinksldjump"/>
                        </a:rPr>
                        <a:t>User </a:t>
                      </a:r>
                      <a:r>
                        <a:rPr lang="en-US" sz="1800" b="0" dirty="0" smtClean="0">
                          <a:hlinkClick r:id="rId9" action="ppaction://hlinksldjump"/>
                        </a:rPr>
                        <a:t>Panel Features</a:t>
                      </a:r>
                      <a:endParaRPr lang="en-US" sz="1800" b="0" dirty="0"/>
                    </a:p>
                  </a:txBody>
                  <a:tcPr/>
                </a:tc>
                <a:extLst>
                  <a:ext uri="{0D108BD9-81ED-4DB2-BD59-A6C34878D82A}">
                    <a16:rowId xmlns:a16="http://schemas.microsoft.com/office/drawing/2014/main" val="2618607374"/>
                  </a:ext>
                </a:extLst>
              </a:tr>
              <a:tr h="370840">
                <a:tc>
                  <a:txBody>
                    <a:bodyPr/>
                    <a:lstStyle/>
                    <a:p>
                      <a:pPr marL="0" indent="0" algn="l">
                        <a:lnSpc>
                          <a:spcPts val="2400"/>
                        </a:lnSpc>
                        <a:buNone/>
                      </a:pPr>
                      <a:r>
                        <a:rPr lang="en-US" sz="1800" b="0" dirty="0" smtClean="0"/>
                        <a:t>6. </a:t>
                      </a:r>
                      <a:r>
                        <a:rPr lang="en-US" sz="1800" b="0" dirty="0" smtClean="0"/>
                        <a:t>   </a:t>
                      </a:r>
                      <a:r>
                        <a:rPr lang="en-US" sz="1800" b="0" dirty="0" smtClean="0">
                          <a:hlinkClick r:id="rId10" action="ppaction://hlinksldjump"/>
                        </a:rPr>
                        <a:t>Admin </a:t>
                      </a:r>
                      <a:r>
                        <a:rPr lang="en-US" sz="1800" b="0" dirty="0" smtClean="0">
                          <a:hlinkClick r:id="rId10" action="ppaction://hlinksldjump"/>
                        </a:rPr>
                        <a:t>Panel Features</a:t>
                      </a:r>
                      <a:endParaRPr lang="en-US" sz="1800" b="0" dirty="0"/>
                    </a:p>
                  </a:txBody>
                  <a:tcPr/>
                </a:tc>
                <a:extLst>
                  <a:ext uri="{0D108BD9-81ED-4DB2-BD59-A6C34878D82A}">
                    <a16:rowId xmlns:a16="http://schemas.microsoft.com/office/drawing/2014/main" val="330786310"/>
                  </a:ext>
                </a:extLst>
              </a:tr>
              <a:tr h="370840">
                <a:tc>
                  <a:txBody>
                    <a:bodyPr/>
                    <a:lstStyle/>
                    <a:p>
                      <a:pPr marL="0" indent="0" algn="l">
                        <a:lnSpc>
                          <a:spcPts val="2400"/>
                        </a:lnSpc>
                        <a:buNone/>
                      </a:pPr>
                      <a:r>
                        <a:rPr lang="en-US" sz="1800" b="0" dirty="0" smtClean="0"/>
                        <a:t>7. </a:t>
                      </a:r>
                      <a:r>
                        <a:rPr lang="en-US" sz="1800" b="0" dirty="0" smtClean="0"/>
                        <a:t>   </a:t>
                      </a:r>
                      <a:r>
                        <a:rPr lang="en-US" sz="1800" b="0" dirty="0" smtClean="0">
                          <a:hlinkClick r:id="rId11" action="ppaction://hlinksldjump"/>
                        </a:rPr>
                        <a:t>System </a:t>
                      </a:r>
                      <a:r>
                        <a:rPr lang="en-US" sz="1800" b="0" dirty="0" smtClean="0">
                          <a:hlinkClick r:id="rId11" action="ppaction://hlinksldjump"/>
                        </a:rPr>
                        <a:t>Flow Diagrams</a:t>
                      </a:r>
                      <a:endParaRPr lang="en-US" sz="1800" b="0" dirty="0" smtClean="0">
                        <a:solidFill>
                          <a:srgbClr val="FFFFFF"/>
                        </a:solidFill>
                        <a:latin typeface="思源黑体-思源黑体-Bold" pitchFamily="34" charset="0"/>
                        <a:ea typeface="思源黑体-思源黑体-Bold" pitchFamily="34" charset="-122"/>
                        <a:cs typeface="思源黑体-思源黑体-Bold" pitchFamily="34" charset="-120"/>
                      </a:endParaRPr>
                    </a:p>
                  </a:txBody>
                  <a:tcPr/>
                </a:tc>
                <a:extLst>
                  <a:ext uri="{0D108BD9-81ED-4DB2-BD59-A6C34878D82A}">
                    <a16:rowId xmlns:a16="http://schemas.microsoft.com/office/drawing/2014/main" val="2044919940"/>
                  </a:ext>
                </a:extLst>
              </a:tr>
              <a:tr h="370840">
                <a:tc>
                  <a:txBody>
                    <a:bodyPr/>
                    <a:lstStyle/>
                    <a:p>
                      <a:pPr marL="0" indent="0" algn="l">
                        <a:lnSpc>
                          <a:spcPts val="2400"/>
                        </a:lnSpc>
                        <a:buNone/>
                      </a:pPr>
                      <a:r>
                        <a:rPr lang="en-US" sz="1800" b="0" dirty="0" smtClean="0"/>
                        <a:t>8.</a:t>
                      </a:r>
                      <a:r>
                        <a:rPr lang="en-US" sz="1800" b="0" dirty="0" smtClean="0">
                          <a:hlinkClick r:id="rId12" action="ppaction://hlinksldjump"/>
                        </a:rPr>
                        <a:t>    Data Flow Diagram</a:t>
                      </a:r>
                      <a:endParaRPr lang="en-US" sz="1800" b="0" dirty="0"/>
                    </a:p>
                  </a:txBody>
                  <a:tcPr/>
                </a:tc>
                <a:extLst>
                  <a:ext uri="{0D108BD9-81ED-4DB2-BD59-A6C34878D82A}">
                    <a16:rowId xmlns:a16="http://schemas.microsoft.com/office/drawing/2014/main" val="511948391"/>
                  </a:ext>
                </a:extLst>
              </a:tr>
              <a:tr h="370840">
                <a:tc>
                  <a:txBody>
                    <a:bodyPr/>
                    <a:lstStyle/>
                    <a:p>
                      <a:pPr marL="0" indent="0" algn="l">
                        <a:lnSpc>
                          <a:spcPts val="2400"/>
                        </a:lnSpc>
                        <a:buNone/>
                      </a:pPr>
                      <a:r>
                        <a:rPr lang="en-US" sz="1800" b="0" dirty="0" smtClean="0"/>
                        <a:t>9.    </a:t>
                      </a:r>
                      <a:r>
                        <a:rPr lang="en-US" sz="1800" b="0" dirty="0" smtClean="0">
                          <a:hlinkClick r:id="rId13" action="ppaction://hlinksldjump"/>
                        </a:rPr>
                        <a:t>E-R Diagram</a:t>
                      </a:r>
                      <a:endParaRPr lang="en-US" sz="1800" b="0" dirty="0"/>
                    </a:p>
                  </a:txBody>
                  <a:tcPr/>
                </a:tc>
                <a:extLst>
                  <a:ext uri="{0D108BD9-81ED-4DB2-BD59-A6C34878D82A}">
                    <a16:rowId xmlns:a16="http://schemas.microsoft.com/office/drawing/2014/main" val="4098550997"/>
                  </a:ext>
                </a:extLst>
              </a:tr>
              <a:tr h="370840">
                <a:tc>
                  <a:txBody>
                    <a:bodyPr/>
                    <a:lstStyle/>
                    <a:p>
                      <a:pPr marL="0" indent="0" algn="l">
                        <a:lnSpc>
                          <a:spcPts val="2400"/>
                        </a:lnSpc>
                        <a:buNone/>
                      </a:pPr>
                      <a:r>
                        <a:rPr lang="en-US" sz="1800" b="0" dirty="0" smtClean="0"/>
                        <a:t>10.  </a:t>
                      </a:r>
                      <a:r>
                        <a:rPr lang="en-US" sz="1800" b="0" dirty="0" smtClean="0">
                          <a:hlinkClick r:id="rId14" action="ppaction://hlinksldjump"/>
                        </a:rPr>
                        <a:t>Database Design</a:t>
                      </a:r>
                      <a:endParaRPr lang="en-US" sz="1800" b="0" dirty="0"/>
                    </a:p>
                  </a:txBody>
                  <a:tcPr/>
                </a:tc>
                <a:extLst>
                  <a:ext uri="{0D108BD9-81ED-4DB2-BD59-A6C34878D82A}">
                    <a16:rowId xmlns:a16="http://schemas.microsoft.com/office/drawing/2014/main" val="2892753327"/>
                  </a:ext>
                </a:extLst>
              </a:tr>
              <a:tr h="370840">
                <a:tc>
                  <a:txBody>
                    <a:bodyPr/>
                    <a:lstStyle/>
                    <a:p>
                      <a:pPr marL="0" indent="0" algn="l">
                        <a:lnSpc>
                          <a:spcPts val="2400"/>
                        </a:lnSpc>
                        <a:buNone/>
                      </a:pPr>
                      <a:r>
                        <a:rPr lang="en-US" sz="1800" b="0" dirty="0" smtClean="0"/>
                        <a:t>11.  </a:t>
                      </a:r>
                      <a:r>
                        <a:rPr lang="en-US" sz="1800" b="0" dirty="0" smtClean="0">
                          <a:hlinkClick r:id="rId15" action="ppaction://hlinksldjump"/>
                        </a:rPr>
                        <a:t>System Design Screenshots</a:t>
                      </a:r>
                      <a:endParaRPr lang="en-US" sz="1800" b="0" dirty="0"/>
                    </a:p>
                  </a:txBody>
                  <a:tcPr/>
                </a:tc>
                <a:extLst>
                  <a:ext uri="{0D108BD9-81ED-4DB2-BD59-A6C34878D82A}">
                    <a16:rowId xmlns:a16="http://schemas.microsoft.com/office/drawing/2014/main" val="940367144"/>
                  </a:ext>
                </a:extLst>
              </a:tr>
              <a:tr h="370840">
                <a:tc>
                  <a:txBody>
                    <a:bodyPr/>
                    <a:lstStyle/>
                    <a:p>
                      <a:pPr marL="0" indent="0" algn="l">
                        <a:lnSpc>
                          <a:spcPts val="2400"/>
                        </a:lnSpc>
                        <a:buNone/>
                      </a:pPr>
                      <a:r>
                        <a:rPr lang="en-US" sz="1800" b="0" dirty="0" smtClean="0"/>
                        <a:t>12.  </a:t>
                      </a:r>
                      <a:r>
                        <a:rPr lang="en-US" sz="1800" b="0" dirty="0" smtClean="0">
                          <a:hlinkClick r:id="rId16" action="ppaction://hlinksldjump"/>
                        </a:rPr>
                        <a:t>References</a:t>
                      </a:r>
                      <a:endParaRPr lang="en-US" sz="1800" b="0" dirty="0"/>
                    </a:p>
                  </a:txBody>
                  <a:tcPr/>
                </a:tc>
                <a:extLst>
                  <a:ext uri="{0D108BD9-81ED-4DB2-BD59-A6C34878D82A}">
                    <a16:rowId xmlns:a16="http://schemas.microsoft.com/office/drawing/2014/main" val="2718657411"/>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5405"/>
            <a:ext cx="14630400" cy="8238744"/>
          </a:xfrm>
          <a:prstGeom prst="rect">
            <a:avLst/>
          </a:prstGeom>
        </p:spPr>
      </p:pic>
      <p:pic>
        <p:nvPicPr>
          <p:cNvPr id="3"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5405"/>
            <a:ext cx="7425559" cy="3661699"/>
          </a:xfrm>
          <a:prstGeom prst="rect">
            <a:avLst/>
          </a:prstGeom>
        </p:spPr>
      </p:pic>
      <p:sp>
        <p:nvSpPr>
          <p:cNvPr id="4" name="Text 0"/>
          <p:cNvSpPr/>
          <p:nvPr/>
        </p:nvSpPr>
        <p:spPr>
          <a:xfrm>
            <a:off x="685800" y="384962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1. Introduction</a:t>
            </a:r>
            <a:endParaRPr lang="en-US" sz="3840" dirty="0"/>
          </a:p>
        </p:txBody>
      </p:sp>
      <p:sp>
        <p:nvSpPr>
          <p:cNvPr id="5" name="Text 1"/>
          <p:cNvSpPr/>
          <p:nvPr/>
        </p:nvSpPr>
        <p:spPr>
          <a:xfrm>
            <a:off x="685800" y="4681728"/>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Project Description</a:t>
            </a:r>
            <a:endParaRPr lang="en-US" sz="3840" dirty="0"/>
          </a:p>
        </p:txBody>
      </p:sp>
      <p:sp>
        <p:nvSpPr>
          <p:cNvPr id="6" name="Text 2"/>
          <p:cNvSpPr/>
          <p:nvPr/>
        </p:nvSpPr>
        <p:spPr>
          <a:xfrm>
            <a:off x="685800" y="5513832"/>
            <a:ext cx="13267944" cy="978408"/>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The Hotel Booking Website is a user-friendly online platform designed to simplify searching, comparing, and reserving hotel accommodations. It provides customers a seamless experience to browse available rooms, view amenities, check prices, and make bookings easily. The system bridges the gap between hotels and guests with an interactive interface ensuring transparency, reliability, and ease of use. It caters to a wide range of preferences, from budget-friendly stays to luxury accommodations.</a:t>
            </a:r>
            <a:endParaRPr lang="en-US" sz="1530" dirty="0"/>
          </a:p>
        </p:txBody>
      </p:sp>
      <p:pic>
        <p:nvPicPr>
          <p:cNvPr id="8" name="Imag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25559" y="-45404"/>
            <a:ext cx="7204842" cy="3659808"/>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31531"/>
            <a:ext cx="14630400" cy="2322576"/>
          </a:xfrm>
          <a:prstGeom prst="rect">
            <a:avLst/>
          </a:prstGeom>
        </p:spPr>
      </p:pic>
      <p:pic>
        <p:nvPicPr>
          <p:cNvPr id="4" name="Image 2" descr="preencoded.png"/>
          <p:cNvPicPr>
            <a:picLocks noChangeAspect="1"/>
          </p:cNvPicPr>
          <p:nvPr/>
        </p:nvPicPr>
        <p:blipFill>
          <a:blip r:embed="rId5"/>
          <a:stretch>
            <a:fillRect/>
          </a:stretch>
        </p:blipFill>
        <p:spPr>
          <a:xfrm>
            <a:off x="704088" y="4965192"/>
            <a:ext cx="3145536" cy="923544"/>
          </a:xfrm>
          <a:prstGeom prst="rect">
            <a:avLst/>
          </a:prstGeom>
        </p:spPr>
      </p:pic>
      <p:pic>
        <p:nvPicPr>
          <p:cNvPr id="5" name="Image 3" descr="preencoded.png"/>
          <p:cNvPicPr>
            <a:picLocks noChangeAspect="1"/>
          </p:cNvPicPr>
          <p:nvPr/>
        </p:nvPicPr>
        <p:blipFill>
          <a:blip r:embed="rId6"/>
          <a:stretch>
            <a:fillRect/>
          </a:stretch>
        </p:blipFill>
        <p:spPr>
          <a:xfrm>
            <a:off x="704088" y="6108192"/>
            <a:ext cx="4270248" cy="923544"/>
          </a:xfrm>
          <a:prstGeom prst="rect">
            <a:avLst/>
          </a:prstGeom>
        </p:spPr>
      </p:pic>
      <p:pic>
        <p:nvPicPr>
          <p:cNvPr id="6" name="Image 4" descr="preencoded.png"/>
          <p:cNvPicPr>
            <a:picLocks noChangeAspect="1"/>
          </p:cNvPicPr>
          <p:nvPr/>
        </p:nvPicPr>
        <p:blipFill>
          <a:blip r:embed="rId7"/>
          <a:stretch>
            <a:fillRect/>
          </a:stretch>
        </p:blipFill>
        <p:spPr>
          <a:xfrm>
            <a:off x="4069080" y="4965192"/>
            <a:ext cx="3145536" cy="923544"/>
          </a:xfrm>
          <a:prstGeom prst="rect">
            <a:avLst/>
          </a:prstGeom>
        </p:spPr>
      </p:pic>
      <p:pic>
        <p:nvPicPr>
          <p:cNvPr id="7" name="Image 5" descr="preencoded.png"/>
          <p:cNvPicPr>
            <a:picLocks noChangeAspect="1"/>
          </p:cNvPicPr>
          <p:nvPr/>
        </p:nvPicPr>
        <p:blipFill>
          <a:blip r:embed="rId8"/>
          <a:stretch>
            <a:fillRect/>
          </a:stretch>
        </p:blipFill>
        <p:spPr>
          <a:xfrm>
            <a:off x="5184648" y="6108192"/>
            <a:ext cx="4270248" cy="923544"/>
          </a:xfrm>
          <a:prstGeom prst="rect">
            <a:avLst/>
          </a:prstGeom>
        </p:spPr>
      </p:pic>
      <p:pic>
        <p:nvPicPr>
          <p:cNvPr id="8" name="Image 6" descr="preencoded.png"/>
          <p:cNvPicPr>
            <a:picLocks noChangeAspect="1"/>
          </p:cNvPicPr>
          <p:nvPr/>
        </p:nvPicPr>
        <p:blipFill>
          <a:blip r:embed="rId9"/>
          <a:stretch>
            <a:fillRect/>
          </a:stretch>
        </p:blipFill>
        <p:spPr>
          <a:xfrm>
            <a:off x="7434072" y="4965192"/>
            <a:ext cx="3145536" cy="923544"/>
          </a:xfrm>
          <a:prstGeom prst="rect">
            <a:avLst/>
          </a:prstGeom>
        </p:spPr>
      </p:pic>
      <p:pic>
        <p:nvPicPr>
          <p:cNvPr id="9" name="Image 7" descr="preencoded.png"/>
          <p:cNvPicPr>
            <a:picLocks noChangeAspect="1"/>
          </p:cNvPicPr>
          <p:nvPr/>
        </p:nvPicPr>
        <p:blipFill>
          <a:blip r:embed="rId10"/>
          <a:stretch>
            <a:fillRect/>
          </a:stretch>
        </p:blipFill>
        <p:spPr>
          <a:xfrm>
            <a:off x="9674352" y="6108192"/>
            <a:ext cx="4270248" cy="923544"/>
          </a:xfrm>
          <a:prstGeom prst="rect">
            <a:avLst/>
          </a:prstGeom>
        </p:spPr>
      </p:pic>
      <p:pic>
        <p:nvPicPr>
          <p:cNvPr id="10" name="Image 8" descr="preencoded.png"/>
          <p:cNvPicPr>
            <a:picLocks noChangeAspect="1"/>
          </p:cNvPicPr>
          <p:nvPr/>
        </p:nvPicPr>
        <p:blipFill>
          <a:blip r:embed="rId5"/>
          <a:stretch>
            <a:fillRect/>
          </a:stretch>
        </p:blipFill>
        <p:spPr>
          <a:xfrm>
            <a:off x="10799064" y="4965192"/>
            <a:ext cx="3145536" cy="923544"/>
          </a:xfrm>
          <a:prstGeom prst="rect">
            <a:avLst/>
          </a:prstGeom>
        </p:spPr>
      </p:pic>
      <p:sp>
        <p:nvSpPr>
          <p:cNvPr id="11" name="Text 0"/>
          <p:cNvSpPr/>
          <p:nvPr/>
        </p:nvSpPr>
        <p:spPr>
          <a:xfrm>
            <a:off x="685800" y="3291840"/>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2. Project Profile</a:t>
            </a:r>
            <a:endParaRPr lang="en-US" sz="3840" dirty="0"/>
          </a:p>
        </p:txBody>
      </p:sp>
      <p:sp>
        <p:nvSpPr>
          <p:cNvPr id="12" name="Text 1"/>
          <p:cNvSpPr/>
          <p:nvPr/>
        </p:nvSpPr>
        <p:spPr>
          <a:xfrm>
            <a:off x="685800" y="412394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Technical Specifications</a:t>
            </a:r>
            <a:endParaRPr lang="en-US" sz="3840" dirty="0"/>
          </a:p>
        </p:txBody>
      </p:sp>
      <p:sp>
        <p:nvSpPr>
          <p:cNvPr id="13" name="Text 2"/>
          <p:cNvSpPr/>
          <p:nvPr/>
        </p:nvSpPr>
        <p:spPr>
          <a:xfrm>
            <a:off x="896112" y="5065776"/>
            <a:ext cx="2752344"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Project Title</a:t>
            </a:r>
            <a:endParaRPr lang="en-US" sz="1920" dirty="0"/>
          </a:p>
        </p:txBody>
      </p:sp>
      <p:sp>
        <p:nvSpPr>
          <p:cNvPr id="14" name="Text 3"/>
          <p:cNvSpPr/>
          <p:nvPr/>
        </p:nvSpPr>
        <p:spPr>
          <a:xfrm>
            <a:off x="896112" y="5541264"/>
            <a:ext cx="2752344"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Hotel Booking System</a:t>
            </a:r>
            <a:endParaRPr lang="en-US" sz="1530" dirty="0"/>
          </a:p>
        </p:txBody>
      </p:sp>
      <p:sp>
        <p:nvSpPr>
          <p:cNvPr id="15" name="Text 4"/>
          <p:cNvSpPr/>
          <p:nvPr/>
        </p:nvSpPr>
        <p:spPr>
          <a:xfrm>
            <a:off x="896112" y="6208776"/>
            <a:ext cx="387705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Supported Browsers</a:t>
            </a:r>
            <a:endParaRPr lang="en-US" sz="1920" dirty="0"/>
          </a:p>
        </p:txBody>
      </p:sp>
      <p:sp>
        <p:nvSpPr>
          <p:cNvPr id="16" name="Text 5"/>
          <p:cNvSpPr/>
          <p:nvPr/>
        </p:nvSpPr>
        <p:spPr>
          <a:xfrm>
            <a:off x="4261104" y="5065776"/>
            <a:ext cx="2752344"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Frontend</a:t>
            </a:r>
            <a:endParaRPr lang="en-US" sz="1920" dirty="0"/>
          </a:p>
        </p:txBody>
      </p:sp>
      <p:sp>
        <p:nvSpPr>
          <p:cNvPr id="17" name="Text 6"/>
          <p:cNvSpPr/>
          <p:nvPr/>
        </p:nvSpPr>
        <p:spPr>
          <a:xfrm>
            <a:off x="896112" y="6684264"/>
            <a:ext cx="3877056"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Chrome, Edge</a:t>
            </a:r>
            <a:endParaRPr lang="en-US" sz="1530" dirty="0"/>
          </a:p>
        </p:txBody>
      </p:sp>
      <p:sp>
        <p:nvSpPr>
          <p:cNvPr id="18" name="Text 7"/>
          <p:cNvSpPr/>
          <p:nvPr/>
        </p:nvSpPr>
        <p:spPr>
          <a:xfrm>
            <a:off x="4261104" y="5541264"/>
            <a:ext cx="2752344"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HTML, CSS3, JavaScript</a:t>
            </a:r>
            <a:endParaRPr lang="en-US" sz="1530" dirty="0"/>
          </a:p>
        </p:txBody>
      </p:sp>
      <p:sp>
        <p:nvSpPr>
          <p:cNvPr id="19" name="Text 8"/>
          <p:cNvSpPr/>
          <p:nvPr/>
        </p:nvSpPr>
        <p:spPr>
          <a:xfrm>
            <a:off x="5385816" y="6208776"/>
            <a:ext cx="387705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Documentation Tool</a:t>
            </a:r>
            <a:endParaRPr lang="en-US" sz="1920" dirty="0"/>
          </a:p>
        </p:txBody>
      </p:sp>
      <p:sp>
        <p:nvSpPr>
          <p:cNvPr id="20" name="Text 9"/>
          <p:cNvSpPr/>
          <p:nvPr/>
        </p:nvSpPr>
        <p:spPr>
          <a:xfrm>
            <a:off x="5385816" y="6684264"/>
            <a:ext cx="3877056"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MS Word</a:t>
            </a:r>
            <a:endParaRPr lang="en-US" sz="1530" dirty="0"/>
          </a:p>
        </p:txBody>
      </p:sp>
      <p:sp>
        <p:nvSpPr>
          <p:cNvPr id="21" name="Text 10"/>
          <p:cNvSpPr/>
          <p:nvPr/>
        </p:nvSpPr>
        <p:spPr>
          <a:xfrm>
            <a:off x="7626096" y="5065776"/>
            <a:ext cx="2752344"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Backend</a:t>
            </a:r>
            <a:endParaRPr lang="en-US" sz="1920" dirty="0"/>
          </a:p>
        </p:txBody>
      </p:sp>
      <p:sp>
        <p:nvSpPr>
          <p:cNvPr id="22" name="Text 11"/>
          <p:cNvSpPr/>
          <p:nvPr/>
        </p:nvSpPr>
        <p:spPr>
          <a:xfrm>
            <a:off x="7626096" y="5541264"/>
            <a:ext cx="2752344"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PHP, MYSQL</a:t>
            </a:r>
            <a:endParaRPr lang="en-US" sz="1530" dirty="0"/>
          </a:p>
        </p:txBody>
      </p:sp>
      <p:sp>
        <p:nvSpPr>
          <p:cNvPr id="23" name="Text 12"/>
          <p:cNvSpPr/>
          <p:nvPr/>
        </p:nvSpPr>
        <p:spPr>
          <a:xfrm>
            <a:off x="9866376" y="6208776"/>
            <a:ext cx="387705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Internal Guide</a:t>
            </a:r>
            <a:endParaRPr lang="en-US" sz="1920" dirty="0"/>
          </a:p>
        </p:txBody>
      </p:sp>
      <p:sp>
        <p:nvSpPr>
          <p:cNvPr id="24" name="Text 13"/>
          <p:cNvSpPr/>
          <p:nvPr/>
        </p:nvSpPr>
        <p:spPr>
          <a:xfrm>
            <a:off x="9866376" y="6684264"/>
            <a:ext cx="3877056"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Viral B Polishvala</a:t>
            </a:r>
            <a:endParaRPr lang="en-US" sz="1530" dirty="0"/>
          </a:p>
        </p:txBody>
      </p:sp>
      <p:sp>
        <p:nvSpPr>
          <p:cNvPr id="25" name="Text 14"/>
          <p:cNvSpPr/>
          <p:nvPr/>
        </p:nvSpPr>
        <p:spPr>
          <a:xfrm>
            <a:off x="10991088" y="5065776"/>
            <a:ext cx="2752344"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Platform</a:t>
            </a:r>
            <a:endParaRPr lang="en-US" sz="1920" dirty="0"/>
          </a:p>
        </p:txBody>
      </p:sp>
      <p:sp>
        <p:nvSpPr>
          <p:cNvPr id="26" name="Text 15"/>
          <p:cNvSpPr/>
          <p:nvPr/>
        </p:nvSpPr>
        <p:spPr>
          <a:xfrm>
            <a:off x="10991088" y="5541264"/>
            <a:ext cx="2752344"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VS Code</a:t>
            </a:r>
            <a:endParaRPr lang="en-US" sz="153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685800" y="1508760"/>
            <a:ext cx="6547104" cy="1810512"/>
          </a:xfrm>
          <a:prstGeom prst="rect">
            <a:avLst/>
          </a:prstGeom>
        </p:spPr>
      </p:pic>
      <p:pic>
        <p:nvPicPr>
          <p:cNvPr id="5" name="Image 3" descr="preencoded.png"/>
          <p:cNvPicPr>
            <a:picLocks noChangeAspect="1"/>
          </p:cNvPicPr>
          <p:nvPr/>
        </p:nvPicPr>
        <p:blipFill>
          <a:blip r:embed="rId6"/>
          <a:stretch>
            <a:fillRect/>
          </a:stretch>
        </p:blipFill>
        <p:spPr>
          <a:xfrm>
            <a:off x="685800" y="3493008"/>
            <a:ext cx="6547104" cy="1810512"/>
          </a:xfrm>
          <a:prstGeom prst="rect">
            <a:avLst/>
          </a:prstGeom>
        </p:spPr>
      </p:pic>
      <p:pic>
        <p:nvPicPr>
          <p:cNvPr id="6" name="Image 4" descr="preencoded.png"/>
          <p:cNvPicPr>
            <a:picLocks noChangeAspect="1"/>
          </p:cNvPicPr>
          <p:nvPr/>
        </p:nvPicPr>
        <p:blipFill>
          <a:blip r:embed="rId7"/>
          <a:stretch>
            <a:fillRect/>
          </a:stretch>
        </p:blipFill>
        <p:spPr>
          <a:xfrm>
            <a:off x="685800" y="5477256"/>
            <a:ext cx="6547104" cy="1810512"/>
          </a:xfrm>
          <a:prstGeom prst="rect">
            <a:avLst/>
          </a:prstGeom>
        </p:spPr>
      </p:pic>
      <p:pic>
        <p:nvPicPr>
          <p:cNvPr id="7" name="Image 5" descr="preencoded.png"/>
          <p:cNvPicPr>
            <a:picLocks noChangeAspect="1"/>
          </p:cNvPicPr>
          <p:nvPr/>
        </p:nvPicPr>
        <p:blipFill>
          <a:blip r:embed="rId8"/>
          <a:stretch>
            <a:fillRect/>
          </a:stretch>
        </p:blipFill>
        <p:spPr>
          <a:xfrm>
            <a:off x="7406640" y="1508760"/>
            <a:ext cx="6547104" cy="1810512"/>
          </a:xfrm>
          <a:prstGeom prst="rect">
            <a:avLst/>
          </a:prstGeom>
        </p:spPr>
      </p:pic>
      <p:pic>
        <p:nvPicPr>
          <p:cNvPr id="8" name="Image 6" descr="preencoded.png"/>
          <p:cNvPicPr>
            <a:picLocks noChangeAspect="1"/>
          </p:cNvPicPr>
          <p:nvPr/>
        </p:nvPicPr>
        <p:blipFill>
          <a:blip r:embed="rId9"/>
          <a:stretch>
            <a:fillRect/>
          </a:stretch>
        </p:blipFill>
        <p:spPr>
          <a:xfrm>
            <a:off x="7406640" y="3493008"/>
            <a:ext cx="6547104" cy="1810512"/>
          </a:xfrm>
          <a:prstGeom prst="rect">
            <a:avLst/>
          </a:prstGeom>
        </p:spPr>
      </p:pic>
      <p:pic>
        <p:nvPicPr>
          <p:cNvPr id="9" name="Image 7" descr="preencoded.png"/>
          <p:cNvPicPr>
            <a:picLocks noChangeAspect="1"/>
          </p:cNvPicPr>
          <p:nvPr/>
        </p:nvPicPr>
        <p:blipFill>
          <a:blip r:embed="rId10"/>
          <a:stretch>
            <a:fillRect/>
          </a:stretch>
        </p:blipFill>
        <p:spPr>
          <a:xfrm>
            <a:off x="7406640" y="5477256"/>
            <a:ext cx="6547104" cy="1810512"/>
          </a:xfrm>
          <a:prstGeom prst="rect">
            <a:avLst/>
          </a:prstGeom>
        </p:spPr>
      </p:pic>
      <p:pic>
        <p:nvPicPr>
          <p:cNvPr id="10" name="Image 8" descr="preencoded.png"/>
          <p:cNvPicPr>
            <a:picLocks noChangeAspect="1"/>
          </p:cNvPicPr>
          <p:nvPr/>
        </p:nvPicPr>
        <p:blipFill>
          <a:blip r:embed="rId11"/>
          <a:stretch>
            <a:fillRect/>
          </a:stretch>
        </p:blipFill>
        <p:spPr>
          <a:xfrm>
            <a:off x="896112" y="2240280"/>
            <a:ext cx="6135624" cy="877824"/>
          </a:xfrm>
          <a:prstGeom prst="rect">
            <a:avLst/>
          </a:prstGeom>
        </p:spPr>
      </p:pic>
      <p:pic>
        <p:nvPicPr>
          <p:cNvPr id="11" name="Image 9" descr="preencoded.png"/>
          <p:cNvPicPr>
            <a:picLocks noChangeAspect="1"/>
          </p:cNvPicPr>
          <p:nvPr/>
        </p:nvPicPr>
        <p:blipFill>
          <a:blip r:embed="rId11"/>
          <a:stretch>
            <a:fillRect/>
          </a:stretch>
        </p:blipFill>
        <p:spPr>
          <a:xfrm>
            <a:off x="896112" y="4224528"/>
            <a:ext cx="6135624" cy="877824"/>
          </a:xfrm>
          <a:prstGeom prst="rect">
            <a:avLst/>
          </a:prstGeom>
        </p:spPr>
      </p:pic>
      <p:pic>
        <p:nvPicPr>
          <p:cNvPr id="12" name="Image 10" descr="preencoded.png"/>
          <p:cNvPicPr>
            <a:picLocks noChangeAspect="1"/>
          </p:cNvPicPr>
          <p:nvPr/>
        </p:nvPicPr>
        <p:blipFill>
          <a:blip r:embed="rId11"/>
          <a:stretch>
            <a:fillRect/>
          </a:stretch>
        </p:blipFill>
        <p:spPr>
          <a:xfrm>
            <a:off x="896112" y="6208776"/>
            <a:ext cx="6135624" cy="877824"/>
          </a:xfrm>
          <a:prstGeom prst="rect">
            <a:avLst/>
          </a:prstGeom>
        </p:spPr>
      </p:pic>
      <p:pic>
        <p:nvPicPr>
          <p:cNvPr id="13" name="Image 11" descr="preencoded.png"/>
          <p:cNvPicPr>
            <a:picLocks noChangeAspect="1"/>
          </p:cNvPicPr>
          <p:nvPr/>
        </p:nvPicPr>
        <p:blipFill>
          <a:blip r:embed="rId11"/>
          <a:stretch>
            <a:fillRect/>
          </a:stretch>
        </p:blipFill>
        <p:spPr>
          <a:xfrm>
            <a:off x="7616952" y="2240280"/>
            <a:ext cx="6135624" cy="877824"/>
          </a:xfrm>
          <a:prstGeom prst="rect">
            <a:avLst/>
          </a:prstGeom>
        </p:spPr>
      </p:pic>
      <p:pic>
        <p:nvPicPr>
          <p:cNvPr id="14" name="Image 12" descr="preencoded.png"/>
          <p:cNvPicPr>
            <a:picLocks noChangeAspect="1"/>
          </p:cNvPicPr>
          <p:nvPr/>
        </p:nvPicPr>
        <p:blipFill>
          <a:blip r:embed="rId11"/>
          <a:stretch>
            <a:fillRect/>
          </a:stretch>
        </p:blipFill>
        <p:spPr>
          <a:xfrm>
            <a:off x="7616952" y="4224528"/>
            <a:ext cx="6135624" cy="877824"/>
          </a:xfrm>
          <a:prstGeom prst="rect">
            <a:avLst/>
          </a:prstGeom>
        </p:spPr>
      </p:pic>
      <p:pic>
        <p:nvPicPr>
          <p:cNvPr id="15" name="Image 13" descr="preencoded.png"/>
          <p:cNvPicPr>
            <a:picLocks noChangeAspect="1"/>
          </p:cNvPicPr>
          <p:nvPr/>
        </p:nvPicPr>
        <p:blipFill>
          <a:blip r:embed="rId11"/>
          <a:stretch>
            <a:fillRect/>
          </a:stretch>
        </p:blipFill>
        <p:spPr>
          <a:xfrm>
            <a:off x="7616952" y="6208776"/>
            <a:ext cx="6135624" cy="877824"/>
          </a:xfrm>
          <a:prstGeom prst="rect">
            <a:avLst/>
          </a:prstGeom>
        </p:spPr>
      </p:pic>
      <p:pic>
        <p:nvPicPr>
          <p:cNvPr id="16" name="Image 14" descr="preencoded.png"/>
          <p:cNvPicPr>
            <a:picLocks noChangeAspect="1"/>
          </p:cNvPicPr>
          <p:nvPr/>
        </p:nvPicPr>
        <p:blipFill>
          <a:blip r:embed="rId12"/>
          <a:stretch>
            <a:fillRect/>
          </a:stretch>
        </p:blipFill>
        <p:spPr>
          <a:xfrm>
            <a:off x="877824" y="1700784"/>
            <a:ext cx="384048" cy="384048"/>
          </a:xfrm>
          <a:prstGeom prst="rect">
            <a:avLst/>
          </a:prstGeom>
        </p:spPr>
      </p:pic>
      <p:pic>
        <p:nvPicPr>
          <p:cNvPr id="17" name="Image 15" descr="preencoded.png"/>
          <p:cNvPicPr>
            <a:picLocks noChangeAspect="1"/>
          </p:cNvPicPr>
          <p:nvPr/>
        </p:nvPicPr>
        <p:blipFill>
          <a:blip r:embed="rId13"/>
          <a:stretch>
            <a:fillRect/>
          </a:stretch>
        </p:blipFill>
        <p:spPr>
          <a:xfrm>
            <a:off x="877824" y="3685032"/>
            <a:ext cx="384048" cy="384048"/>
          </a:xfrm>
          <a:prstGeom prst="rect">
            <a:avLst/>
          </a:prstGeom>
        </p:spPr>
      </p:pic>
      <p:pic>
        <p:nvPicPr>
          <p:cNvPr id="18" name="Image 16" descr="preencoded.png"/>
          <p:cNvPicPr>
            <a:picLocks noChangeAspect="1"/>
          </p:cNvPicPr>
          <p:nvPr/>
        </p:nvPicPr>
        <p:blipFill>
          <a:blip r:embed="rId14"/>
          <a:stretch>
            <a:fillRect/>
          </a:stretch>
        </p:blipFill>
        <p:spPr>
          <a:xfrm>
            <a:off x="877824" y="5669280"/>
            <a:ext cx="384048" cy="384048"/>
          </a:xfrm>
          <a:prstGeom prst="rect">
            <a:avLst/>
          </a:prstGeom>
        </p:spPr>
      </p:pic>
      <p:pic>
        <p:nvPicPr>
          <p:cNvPr id="19" name="Image 17" descr="preencoded.png"/>
          <p:cNvPicPr>
            <a:picLocks noChangeAspect="1"/>
          </p:cNvPicPr>
          <p:nvPr/>
        </p:nvPicPr>
        <p:blipFill>
          <a:blip r:embed="rId14"/>
          <a:stretch>
            <a:fillRect/>
          </a:stretch>
        </p:blipFill>
        <p:spPr>
          <a:xfrm>
            <a:off x="7598664" y="1700784"/>
            <a:ext cx="384048" cy="384048"/>
          </a:xfrm>
          <a:prstGeom prst="rect">
            <a:avLst/>
          </a:prstGeom>
        </p:spPr>
      </p:pic>
      <p:pic>
        <p:nvPicPr>
          <p:cNvPr id="20" name="Image 18" descr="preencoded.png"/>
          <p:cNvPicPr>
            <a:picLocks noChangeAspect="1"/>
          </p:cNvPicPr>
          <p:nvPr/>
        </p:nvPicPr>
        <p:blipFill>
          <a:blip r:embed="rId12"/>
          <a:stretch>
            <a:fillRect/>
          </a:stretch>
        </p:blipFill>
        <p:spPr>
          <a:xfrm>
            <a:off x="7598664" y="3685032"/>
            <a:ext cx="384048" cy="384048"/>
          </a:xfrm>
          <a:prstGeom prst="rect">
            <a:avLst/>
          </a:prstGeom>
        </p:spPr>
      </p:pic>
      <p:pic>
        <p:nvPicPr>
          <p:cNvPr id="21" name="Image 19" descr="preencoded.png"/>
          <p:cNvPicPr>
            <a:picLocks noChangeAspect="1"/>
          </p:cNvPicPr>
          <p:nvPr/>
        </p:nvPicPr>
        <p:blipFill>
          <a:blip r:embed="rId13"/>
          <a:stretch>
            <a:fillRect/>
          </a:stretch>
        </p:blipFill>
        <p:spPr>
          <a:xfrm>
            <a:off x="7598664" y="5669280"/>
            <a:ext cx="384048" cy="384048"/>
          </a:xfrm>
          <a:prstGeom prst="rect">
            <a:avLst/>
          </a:prstGeom>
        </p:spPr>
      </p:pic>
      <p:sp>
        <p:nvSpPr>
          <p:cNvPr id="22" name="Text 0"/>
          <p:cNvSpPr/>
          <p:nvPr/>
        </p:nvSpPr>
        <p:spPr>
          <a:xfrm>
            <a:off x="685800" y="758952"/>
            <a:ext cx="13267944" cy="557784"/>
          </a:xfrm>
          <a:prstGeom prst="rect">
            <a:avLst/>
          </a:prstGeom>
          <a:noFill/>
          <a:ln/>
        </p:spPr>
        <p:txBody>
          <a:bodyPr wrap="none" lIns="0" tIns="0" rIns="0" bIns="0" rtlCol="0" anchor="ctr"/>
          <a:lstStyle/>
          <a:p>
            <a:pPr marL="0" indent="0" algn="l">
              <a:lnSpc>
                <a:spcPts val="4310"/>
              </a:lnSpc>
              <a:buNone/>
            </a:pPr>
            <a:r>
              <a:rPr lang="en-US" sz="3450" dirty="0">
                <a:solidFill>
                  <a:srgbClr val="FFFFFF"/>
                </a:solidFill>
                <a:latin typeface="思源黑体-思源黑体-Bold" pitchFamily="34" charset="0"/>
                <a:ea typeface="思源黑体-思源黑体-Bold" pitchFamily="34" charset="-122"/>
                <a:cs typeface="思源黑体-思源黑体-Bold" pitchFamily="34" charset="-120"/>
              </a:rPr>
              <a:t>3. Core Objectives</a:t>
            </a:r>
            <a:endParaRPr lang="en-US" sz="3450" dirty="0"/>
          </a:p>
        </p:txBody>
      </p:sp>
      <p:sp>
        <p:nvSpPr>
          <p:cNvPr id="23" name="Text 1"/>
          <p:cNvSpPr/>
          <p:nvPr/>
        </p:nvSpPr>
        <p:spPr>
          <a:xfrm>
            <a:off x="1005840" y="1728216"/>
            <a:ext cx="128016" cy="320040"/>
          </a:xfrm>
          <a:prstGeom prst="rect">
            <a:avLst/>
          </a:prstGeom>
          <a:noFill/>
          <a:ln/>
        </p:spPr>
        <p:txBody>
          <a:bodyPr wrap="none" lIns="0" tIns="0" rIns="0" bIns="0" rtlCol="0" anchor="ctr"/>
          <a:lstStyle/>
          <a:p>
            <a:pPr marL="0" indent="0" algn="l">
              <a:lnSpc>
                <a:spcPts val="2070"/>
              </a:lnSpc>
              <a:buNone/>
            </a:pPr>
            <a:r>
              <a:rPr lang="en-US" sz="1720" dirty="0">
                <a:solidFill>
                  <a:srgbClr val="FFFFFF"/>
                </a:solidFill>
                <a:latin typeface="思源黑体-思源黑体-Medium" pitchFamily="34" charset="0"/>
                <a:ea typeface="思源黑体-思源黑体-Medium" pitchFamily="34" charset="-122"/>
                <a:cs typeface="思源黑体-思源黑体-Medium" pitchFamily="34" charset="-120"/>
              </a:rPr>
              <a:t>1</a:t>
            </a:r>
            <a:endParaRPr lang="en-US" sz="1720" dirty="0"/>
          </a:p>
        </p:txBody>
      </p:sp>
      <p:sp>
        <p:nvSpPr>
          <p:cNvPr id="24" name="Text 2"/>
          <p:cNvSpPr/>
          <p:nvPr/>
        </p:nvSpPr>
        <p:spPr>
          <a:xfrm>
            <a:off x="896112" y="2240280"/>
            <a:ext cx="6135624" cy="274320"/>
          </a:xfrm>
          <a:prstGeom prst="rect">
            <a:avLst/>
          </a:prstGeom>
          <a:noFill/>
          <a:ln/>
        </p:spPr>
        <p:txBody>
          <a:bodyPr wrap="none" lIns="0" tIns="0" rIns="0" bIns="0" rtlCol="0" anchor="ctr"/>
          <a:lstStyle/>
          <a:p>
            <a:pPr marL="0" indent="0" algn="l">
              <a:lnSpc>
                <a:spcPts val="2150"/>
              </a:lnSpc>
              <a:buNone/>
            </a:pPr>
            <a:r>
              <a:rPr lang="en-US" sz="1720" dirty="0">
                <a:solidFill>
                  <a:srgbClr val="FFFFFF"/>
                </a:solidFill>
                <a:latin typeface="思源黑体-思源黑体-Bold" pitchFamily="34" charset="0"/>
                <a:ea typeface="思源黑体-思源黑体-Bold" pitchFamily="34" charset="-122"/>
                <a:cs typeface="思源黑体-思源黑体-Bold" pitchFamily="34" charset="-120"/>
              </a:rPr>
              <a:t>Simplify Hotel Search</a:t>
            </a:r>
            <a:endParaRPr lang="en-US" sz="1720" dirty="0"/>
          </a:p>
        </p:txBody>
      </p:sp>
      <p:sp>
        <p:nvSpPr>
          <p:cNvPr id="25" name="Text 3"/>
          <p:cNvSpPr/>
          <p:nvPr/>
        </p:nvSpPr>
        <p:spPr>
          <a:xfrm>
            <a:off x="896112" y="2670048"/>
            <a:ext cx="6135624" cy="438912"/>
          </a:xfrm>
          <a:prstGeom prst="rect">
            <a:avLst/>
          </a:prstGeom>
          <a:noFill/>
          <a:ln/>
        </p:spPr>
        <p:txBody>
          <a:bodyPr wrap="square" lIns="0" tIns="0" rIns="0" bIns="0" rtlCol="0" anchor="ctr"/>
          <a:lstStyle/>
          <a:p>
            <a:pPr marL="0" indent="0" algn="l">
              <a:lnSpc>
                <a:spcPts val="1720"/>
              </a:lnSpc>
              <a:buNone/>
            </a:pPr>
            <a:r>
              <a:rPr lang="en-US" sz="1380" dirty="0">
                <a:solidFill>
                  <a:srgbClr val="FFFFFF"/>
                </a:solidFill>
                <a:latin typeface="思源黑体-思源黑体-Medium" pitchFamily="34" charset="0"/>
                <a:ea typeface="思源黑体-思源黑体-Medium" pitchFamily="34" charset="-122"/>
                <a:cs typeface="思源黑体-思源黑体-Medium" pitchFamily="34" charset="-120"/>
              </a:rPr>
              <a:t> Allow users to easily search for hotels based on location, price, services, and availability.</a:t>
            </a:r>
            <a:endParaRPr lang="en-US" sz="1380" dirty="0"/>
          </a:p>
        </p:txBody>
      </p:sp>
      <p:sp>
        <p:nvSpPr>
          <p:cNvPr id="26" name="Text 4"/>
          <p:cNvSpPr/>
          <p:nvPr/>
        </p:nvSpPr>
        <p:spPr>
          <a:xfrm>
            <a:off x="1005840" y="3712464"/>
            <a:ext cx="128016" cy="320040"/>
          </a:xfrm>
          <a:prstGeom prst="rect">
            <a:avLst/>
          </a:prstGeom>
          <a:noFill/>
          <a:ln/>
        </p:spPr>
        <p:txBody>
          <a:bodyPr wrap="none" lIns="0" tIns="0" rIns="0" bIns="0" rtlCol="0" anchor="ctr"/>
          <a:lstStyle/>
          <a:p>
            <a:pPr marL="0" indent="0" algn="l">
              <a:lnSpc>
                <a:spcPts val="2070"/>
              </a:lnSpc>
              <a:buNone/>
            </a:pPr>
            <a:r>
              <a:rPr lang="en-US" sz="1720" dirty="0">
                <a:solidFill>
                  <a:srgbClr val="FFFFFF"/>
                </a:solidFill>
                <a:latin typeface="思源黑体-思源黑体-Medium" pitchFamily="34" charset="0"/>
                <a:ea typeface="思源黑体-思源黑体-Medium" pitchFamily="34" charset="-122"/>
                <a:cs typeface="思源黑体-思源黑体-Medium" pitchFamily="34" charset="-120"/>
              </a:rPr>
              <a:t>3</a:t>
            </a:r>
            <a:endParaRPr lang="en-US" sz="1720" dirty="0"/>
          </a:p>
        </p:txBody>
      </p:sp>
      <p:sp>
        <p:nvSpPr>
          <p:cNvPr id="27" name="Text 5"/>
          <p:cNvSpPr/>
          <p:nvPr/>
        </p:nvSpPr>
        <p:spPr>
          <a:xfrm>
            <a:off x="896112" y="4224528"/>
            <a:ext cx="6135624" cy="274320"/>
          </a:xfrm>
          <a:prstGeom prst="rect">
            <a:avLst/>
          </a:prstGeom>
          <a:noFill/>
          <a:ln/>
        </p:spPr>
        <p:txBody>
          <a:bodyPr wrap="none" lIns="0" tIns="0" rIns="0" bIns="0" rtlCol="0" anchor="ctr"/>
          <a:lstStyle/>
          <a:p>
            <a:pPr marL="0" indent="0" algn="l">
              <a:lnSpc>
                <a:spcPts val="2150"/>
              </a:lnSpc>
              <a:buNone/>
            </a:pPr>
            <a:r>
              <a:rPr lang="en-US" sz="1720" dirty="0">
                <a:solidFill>
                  <a:srgbClr val="FFFFFF"/>
                </a:solidFill>
                <a:latin typeface="思源黑体-思源黑体-Bold" pitchFamily="34" charset="0"/>
                <a:ea typeface="思源黑体-思源黑体-Bold" pitchFamily="34" charset="-122"/>
                <a:cs typeface="思源黑体-思源黑体-Bold" pitchFamily="34" charset="-120"/>
              </a:rPr>
              <a:t>Transparency</a:t>
            </a:r>
            <a:endParaRPr lang="en-US" sz="1720" dirty="0"/>
          </a:p>
        </p:txBody>
      </p:sp>
      <p:sp>
        <p:nvSpPr>
          <p:cNvPr id="28" name="Text 6"/>
          <p:cNvSpPr/>
          <p:nvPr/>
        </p:nvSpPr>
        <p:spPr>
          <a:xfrm>
            <a:off x="896112" y="4654296"/>
            <a:ext cx="6135624" cy="219456"/>
          </a:xfrm>
          <a:prstGeom prst="rect">
            <a:avLst/>
          </a:prstGeom>
          <a:noFill/>
          <a:ln/>
        </p:spPr>
        <p:txBody>
          <a:bodyPr wrap="none" lIns="0" tIns="0" rIns="0" bIns="0" rtlCol="0" anchor="ctr"/>
          <a:lstStyle/>
          <a:p>
            <a:pPr marL="0" indent="0" algn="l">
              <a:lnSpc>
                <a:spcPts val="1720"/>
              </a:lnSpc>
              <a:buNone/>
            </a:pPr>
            <a:r>
              <a:rPr lang="en-US" sz="1380" dirty="0">
                <a:solidFill>
                  <a:srgbClr val="FFFFFF"/>
                </a:solidFill>
                <a:latin typeface="思源黑体-思源黑体-Medium" pitchFamily="34" charset="0"/>
                <a:ea typeface="思源黑体-思源黑体-Medium" pitchFamily="34" charset="-122"/>
                <a:cs typeface="思源黑体-思源黑体-Medium" pitchFamily="34" charset="-120"/>
              </a:rPr>
              <a:t> Display accurate details about rooms, services, pricing, and availability.</a:t>
            </a:r>
            <a:endParaRPr lang="en-US" sz="1380" dirty="0"/>
          </a:p>
        </p:txBody>
      </p:sp>
      <p:sp>
        <p:nvSpPr>
          <p:cNvPr id="29" name="Text 7"/>
          <p:cNvSpPr/>
          <p:nvPr/>
        </p:nvSpPr>
        <p:spPr>
          <a:xfrm>
            <a:off x="1005840" y="5696712"/>
            <a:ext cx="128016" cy="320040"/>
          </a:xfrm>
          <a:prstGeom prst="rect">
            <a:avLst/>
          </a:prstGeom>
          <a:noFill/>
          <a:ln/>
        </p:spPr>
        <p:txBody>
          <a:bodyPr wrap="none" lIns="0" tIns="0" rIns="0" bIns="0" rtlCol="0" anchor="ctr"/>
          <a:lstStyle/>
          <a:p>
            <a:pPr marL="0" indent="0" algn="l">
              <a:lnSpc>
                <a:spcPts val="2070"/>
              </a:lnSpc>
              <a:buNone/>
            </a:pPr>
            <a:r>
              <a:rPr lang="en-US" sz="1720" dirty="0">
                <a:solidFill>
                  <a:srgbClr val="FFFFFF"/>
                </a:solidFill>
                <a:latin typeface="思源黑体-思源黑体-Medium" pitchFamily="34" charset="0"/>
                <a:ea typeface="思源黑体-思源黑体-Medium" pitchFamily="34" charset="-122"/>
                <a:cs typeface="思源黑体-思源黑体-Medium" pitchFamily="34" charset="-120"/>
              </a:rPr>
              <a:t>5</a:t>
            </a:r>
            <a:endParaRPr lang="en-US" sz="1720" dirty="0"/>
          </a:p>
        </p:txBody>
      </p:sp>
      <p:sp>
        <p:nvSpPr>
          <p:cNvPr id="30" name="Text 8"/>
          <p:cNvSpPr/>
          <p:nvPr/>
        </p:nvSpPr>
        <p:spPr>
          <a:xfrm>
            <a:off x="896112" y="6208776"/>
            <a:ext cx="6135624" cy="274320"/>
          </a:xfrm>
          <a:prstGeom prst="rect">
            <a:avLst/>
          </a:prstGeom>
          <a:noFill/>
          <a:ln/>
        </p:spPr>
        <p:txBody>
          <a:bodyPr wrap="none" lIns="0" tIns="0" rIns="0" bIns="0" rtlCol="0" anchor="ctr"/>
          <a:lstStyle/>
          <a:p>
            <a:pPr marL="0" indent="0" algn="l">
              <a:lnSpc>
                <a:spcPts val="2150"/>
              </a:lnSpc>
              <a:buNone/>
            </a:pPr>
            <a:r>
              <a:rPr lang="en-US" sz="1720" dirty="0">
                <a:solidFill>
                  <a:srgbClr val="FFFFFF"/>
                </a:solidFill>
                <a:latin typeface="思源黑体-思源黑体-Bold" pitchFamily="34" charset="0"/>
                <a:ea typeface="思源黑体-思源黑体-Bold" pitchFamily="34" charset="-122"/>
                <a:cs typeface="思源黑体-思源黑体-Bold" pitchFamily="34" charset="-120"/>
              </a:rPr>
              <a:t>Accessibility &amp; Security</a:t>
            </a:r>
            <a:endParaRPr lang="en-US" sz="1720" dirty="0"/>
          </a:p>
        </p:txBody>
      </p:sp>
      <p:sp>
        <p:nvSpPr>
          <p:cNvPr id="31" name="Text 9"/>
          <p:cNvSpPr/>
          <p:nvPr/>
        </p:nvSpPr>
        <p:spPr>
          <a:xfrm>
            <a:off x="896112" y="6638544"/>
            <a:ext cx="6135624" cy="438912"/>
          </a:xfrm>
          <a:prstGeom prst="rect">
            <a:avLst/>
          </a:prstGeom>
          <a:noFill/>
          <a:ln/>
        </p:spPr>
        <p:txBody>
          <a:bodyPr wrap="square" lIns="0" tIns="0" rIns="0" bIns="0" rtlCol="0" anchor="ctr"/>
          <a:lstStyle/>
          <a:p>
            <a:pPr marL="0" indent="0" algn="l">
              <a:lnSpc>
                <a:spcPts val="1720"/>
              </a:lnSpc>
              <a:buNone/>
            </a:pPr>
            <a:r>
              <a:rPr lang="en-US" sz="1380" dirty="0">
                <a:solidFill>
                  <a:srgbClr val="FFFFFF"/>
                </a:solidFill>
                <a:latin typeface="思源黑体-思源黑体-Medium" pitchFamily="34" charset="0"/>
                <a:ea typeface="思源黑体-思源黑体-Medium" pitchFamily="34" charset="-122"/>
                <a:cs typeface="思源黑体-思源黑体-Medium" pitchFamily="34" charset="-120"/>
              </a:rPr>
              <a:t> Ensure the system is accessible anytime via a responsive design and that customer data is handled safely.</a:t>
            </a:r>
            <a:endParaRPr lang="en-US" sz="1380" dirty="0"/>
          </a:p>
        </p:txBody>
      </p:sp>
      <p:sp>
        <p:nvSpPr>
          <p:cNvPr id="32" name="Text 10"/>
          <p:cNvSpPr/>
          <p:nvPr/>
        </p:nvSpPr>
        <p:spPr>
          <a:xfrm>
            <a:off x="7726680" y="1728216"/>
            <a:ext cx="128016" cy="320040"/>
          </a:xfrm>
          <a:prstGeom prst="rect">
            <a:avLst/>
          </a:prstGeom>
          <a:noFill/>
          <a:ln/>
        </p:spPr>
        <p:txBody>
          <a:bodyPr wrap="none" lIns="0" tIns="0" rIns="0" bIns="0" rtlCol="0" anchor="ctr"/>
          <a:lstStyle/>
          <a:p>
            <a:pPr marL="0" indent="0" algn="l">
              <a:lnSpc>
                <a:spcPts val="2070"/>
              </a:lnSpc>
              <a:buNone/>
            </a:pPr>
            <a:r>
              <a:rPr lang="en-US" sz="1720" dirty="0">
                <a:solidFill>
                  <a:srgbClr val="FFFFFF"/>
                </a:solidFill>
                <a:latin typeface="思源黑体-思源黑体-Medium" pitchFamily="34" charset="0"/>
                <a:ea typeface="思源黑体-思源黑体-Medium" pitchFamily="34" charset="-122"/>
                <a:cs typeface="思源黑体-思源黑体-Medium" pitchFamily="34" charset="-120"/>
              </a:rPr>
              <a:t>2</a:t>
            </a:r>
            <a:endParaRPr lang="en-US" sz="1720" dirty="0"/>
          </a:p>
        </p:txBody>
      </p:sp>
      <p:sp>
        <p:nvSpPr>
          <p:cNvPr id="33" name="Text 11"/>
          <p:cNvSpPr/>
          <p:nvPr/>
        </p:nvSpPr>
        <p:spPr>
          <a:xfrm>
            <a:off x="7616952" y="2240280"/>
            <a:ext cx="6135624" cy="274320"/>
          </a:xfrm>
          <a:prstGeom prst="rect">
            <a:avLst/>
          </a:prstGeom>
          <a:noFill/>
          <a:ln/>
        </p:spPr>
        <p:txBody>
          <a:bodyPr wrap="none" lIns="0" tIns="0" rIns="0" bIns="0" rtlCol="0" anchor="ctr"/>
          <a:lstStyle/>
          <a:p>
            <a:pPr marL="0" indent="0" algn="l">
              <a:lnSpc>
                <a:spcPts val="2150"/>
              </a:lnSpc>
              <a:buNone/>
            </a:pPr>
            <a:r>
              <a:rPr lang="en-US" sz="1720" dirty="0">
                <a:solidFill>
                  <a:srgbClr val="FFFFFF"/>
                </a:solidFill>
                <a:latin typeface="思源黑体-思源黑体-Bold" pitchFamily="34" charset="0"/>
                <a:ea typeface="思源黑体-思源黑体-Bold" pitchFamily="34" charset="-122"/>
                <a:cs typeface="思源黑体-思源黑体-Bold" pitchFamily="34" charset="-120"/>
              </a:rPr>
              <a:t>User-Friendly Booking</a:t>
            </a:r>
            <a:endParaRPr lang="en-US" sz="1720" dirty="0"/>
          </a:p>
        </p:txBody>
      </p:sp>
      <p:sp>
        <p:nvSpPr>
          <p:cNvPr id="34" name="Text 12"/>
          <p:cNvSpPr/>
          <p:nvPr/>
        </p:nvSpPr>
        <p:spPr>
          <a:xfrm>
            <a:off x="7616952" y="2670048"/>
            <a:ext cx="6135624" cy="219456"/>
          </a:xfrm>
          <a:prstGeom prst="rect">
            <a:avLst/>
          </a:prstGeom>
          <a:noFill/>
          <a:ln/>
        </p:spPr>
        <p:txBody>
          <a:bodyPr wrap="none" lIns="0" tIns="0" rIns="0" bIns="0" rtlCol="0" anchor="ctr"/>
          <a:lstStyle/>
          <a:p>
            <a:pPr marL="0" indent="0" algn="l">
              <a:lnSpc>
                <a:spcPts val="1720"/>
              </a:lnSpc>
              <a:buNone/>
            </a:pPr>
            <a:r>
              <a:rPr lang="en-US" sz="1380" dirty="0">
                <a:solidFill>
                  <a:srgbClr val="FFFFFF"/>
                </a:solidFill>
                <a:latin typeface="思源黑体-思源黑体-Medium" pitchFamily="34" charset="0"/>
                <a:ea typeface="思源黑体-思源黑体-Medium" pitchFamily="34" charset="-122"/>
                <a:cs typeface="思源黑体-思源黑体-Medium" pitchFamily="34" charset="-120"/>
              </a:rPr>
              <a:t> Provide a simple and secure booking flow for customers.</a:t>
            </a:r>
            <a:endParaRPr lang="en-US" sz="1380" dirty="0"/>
          </a:p>
        </p:txBody>
      </p:sp>
      <p:sp>
        <p:nvSpPr>
          <p:cNvPr id="35" name="Text 13"/>
          <p:cNvSpPr/>
          <p:nvPr/>
        </p:nvSpPr>
        <p:spPr>
          <a:xfrm>
            <a:off x="7726680" y="3712464"/>
            <a:ext cx="128016" cy="320040"/>
          </a:xfrm>
          <a:prstGeom prst="rect">
            <a:avLst/>
          </a:prstGeom>
          <a:noFill/>
          <a:ln/>
        </p:spPr>
        <p:txBody>
          <a:bodyPr wrap="none" lIns="0" tIns="0" rIns="0" bIns="0" rtlCol="0" anchor="ctr"/>
          <a:lstStyle/>
          <a:p>
            <a:pPr marL="0" indent="0" algn="l">
              <a:lnSpc>
                <a:spcPts val="2070"/>
              </a:lnSpc>
              <a:buNone/>
            </a:pPr>
            <a:r>
              <a:rPr lang="en-US" sz="1720" dirty="0">
                <a:solidFill>
                  <a:srgbClr val="FFFFFF"/>
                </a:solidFill>
                <a:latin typeface="思源黑体-思源黑体-Medium" pitchFamily="34" charset="0"/>
                <a:ea typeface="思源黑体-思源黑体-Medium" pitchFamily="34" charset="-122"/>
                <a:cs typeface="思源黑体-思源黑体-Medium" pitchFamily="34" charset="-120"/>
              </a:rPr>
              <a:t>4</a:t>
            </a:r>
            <a:endParaRPr lang="en-US" sz="1720" dirty="0"/>
          </a:p>
        </p:txBody>
      </p:sp>
      <p:sp>
        <p:nvSpPr>
          <p:cNvPr id="36" name="Text 14"/>
          <p:cNvSpPr/>
          <p:nvPr/>
        </p:nvSpPr>
        <p:spPr>
          <a:xfrm>
            <a:off x="7616952" y="4224528"/>
            <a:ext cx="6135624" cy="274320"/>
          </a:xfrm>
          <a:prstGeom prst="rect">
            <a:avLst/>
          </a:prstGeom>
          <a:noFill/>
          <a:ln/>
        </p:spPr>
        <p:txBody>
          <a:bodyPr wrap="none" lIns="0" tIns="0" rIns="0" bIns="0" rtlCol="0" anchor="ctr"/>
          <a:lstStyle/>
          <a:p>
            <a:pPr marL="0" indent="0" algn="l">
              <a:lnSpc>
                <a:spcPts val="2150"/>
              </a:lnSpc>
              <a:buNone/>
            </a:pPr>
            <a:r>
              <a:rPr lang="en-US" sz="1720" dirty="0">
                <a:solidFill>
                  <a:srgbClr val="FFFFFF"/>
                </a:solidFill>
                <a:latin typeface="思源黑体-思源黑体-Bold" pitchFamily="34" charset="0"/>
                <a:ea typeface="思源黑体-思源黑体-Bold" pitchFamily="34" charset="-122"/>
                <a:cs typeface="思源黑体-思源黑体-Bold" pitchFamily="34" charset="-120"/>
              </a:rPr>
              <a:t>Efficient Admin Management</a:t>
            </a:r>
            <a:endParaRPr lang="en-US" sz="1720" dirty="0"/>
          </a:p>
        </p:txBody>
      </p:sp>
      <p:sp>
        <p:nvSpPr>
          <p:cNvPr id="37" name="Text 15"/>
          <p:cNvSpPr/>
          <p:nvPr/>
        </p:nvSpPr>
        <p:spPr>
          <a:xfrm>
            <a:off x="7616952" y="4654296"/>
            <a:ext cx="6135624" cy="438912"/>
          </a:xfrm>
          <a:prstGeom prst="rect">
            <a:avLst/>
          </a:prstGeom>
          <a:noFill/>
          <a:ln/>
        </p:spPr>
        <p:txBody>
          <a:bodyPr wrap="square" lIns="0" tIns="0" rIns="0" bIns="0" rtlCol="0" anchor="ctr"/>
          <a:lstStyle/>
          <a:p>
            <a:pPr marL="0" indent="0" algn="l">
              <a:lnSpc>
                <a:spcPts val="1720"/>
              </a:lnSpc>
              <a:buNone/>
            </a:pPr>
            <a:r>
              <a:rPr lang="en-US" sz="1380" dirty="0">
                <a:solidFill>
                  <a:srgbClr val="FFFFFF"/>
                </a:solidFill>
                <a:latin typeface="思源黑体-思源黑体-Medium" pitchFamily="34" charset="0"/>
                <a:ea typeface="思源黑体-思源黑体-Medium" pitchFamily="34" charset="-122"/>
                <a:cs typeface="思源黑体-思源黑体-Medium" pitchFamily="34" charset="-120"/>
              </a:rPr>
              <a:t> Enable administrators to manage room listings, services, and reservations efficiently.</a:t>
            </a:r>
            <a:endParaRPr lang="en-US" sz="1380" dirty="0"/>
          </a:p>
        </p:txBody>
      </p:sp>
      <p:sp>
        <p:nvSpPr>
          <p:cNvPr id="38" name="Text 16"/>
          <p:cNvSpPr/>
          <p:nvPr/>
        </p:nvSpPr>
        <p:spPr>
          <a:xfrm>
            <a:off x="7726680" y="5696712"/>
            <a:ext cx="128016" cy="320040"/>
          </a:xfrm>
          <a:prstGeom prst="rect">
            <a:avLst/>
          </a:prstGeom>
          <a:noFill/>
          <a:ln/>
        </p:spPr>
        <p:txBody>
          <a:bodyPr wrap="none" lIns="0" tIns="0" rIns="0" bIns="0" rtlCol="0" anchor="ctr"/>
          <a:lstStyle/>
          <a:p>
            <a:pPr marL="0" indent="0" algn="l">
              <a:lnSpc>
                <a:spcPts val="2070"/>
              </a:lnSpc>
              <a:buNone/>
            </a:pPr>
            <a:r>
              <a:rPr lang="en-US" sz="1720" dirty="0">
                <a:solidFill>
                  <a:srgbClr val="FFFFFF"/>
                </a:solidFill>
                <a:latin typeface="思源黑体-思源黑体-Medium" pitchFamily="34" charset="0"/>
                <a:ea typeface="思源黑体-思源黑体-Medium" pitchFamily="34" charset="-122"/>
                <a:cs typeface="思源黑体-思源黑体-Medium" pitchFamily="34" charset="-120"/>
              </a:rPr>
              <a:t>6</a:t>
            </a:r>
            <a:endParaRPr lang="en-US" sz="1720" dirty="0"/>
          </a:p>
        </p:txBody>
      </p:sp>
      <p:sp>
        <p:nvSpPr>
          <p:cNvPr id="39" name="Text 17"/>
          <p:cNvSpPr/>
          <p:nvPr/>
        </p:nvSpPr>
        <p:spPr>
          <a:xfrm>
            <a:off x="7616952" y="6208776"/>
            <a:ext cx="6135624" cy="274320"/>
          </a:xfrm>
          <a:prstGeom prst="rect">
            <a:avLst/>
          </a:prstGeom>
          <a:noFill/>
          <a:ln/>
        </p:spPr>
        <p:txBody>
          <a:bodyPr wrap="none" lIns="0" tIns="0" rIns="0" bIns="0" rtlCol="0" anchor="ctr"/>
          <a:lstStyle/>
          <a:p>
            <a:pPr marL="0" indent="0" algn="l">
              <a:lnSpc>
                <a:spcPts val="2150"/>
              </a:lnSpc>
              <a:buNone/>
            </a:pPr>
            <a:r>
              <a:rPr lang="en-US" sz="1720" dirty="0">
                <a:solidFill>
                  <a:srgbClr val="FFFFFF"/>
                </a:solidFill>
                <a:latin typeface="思源黑体-思源黑体-Bold" pitchFamily="34" charset="0"/>
                <a:ea typeface="思源黑体-思源黑体-Bold" pitchFamily="34" charset="-122"/>
                <a:cs typeface="思源黑体-思源黑体-Bold" pitchFamily="34" charset="-120"/>
              </a:rPr>
              <a:t>Automation</a:t>
            </a:r>
            <a:endParaRPr lang="en-US" sz="1720" dirty="0"/>
          </a:p>
        </p:txBody>
      </p:sp>
      <p:sp>
        <p:nvSpPr>
          <p:cNvPr id="40" name="Text 18"/>
          <p:cNvSpPr/>
          <p:nvPr/>
        </p:nvSpPr>
        <p:spPr>
          <a:xfrm>
            <a:off x="7616952" y="6638544"/>
            <a:ext cx="6135624" cy="438912"/>
          </a:xfrm>
          <a:prstGeom prst="rect">
            <a:avLst/>
          </a:prstGeom>
          <a:noFill/>
          <a:ln/>
        </p:spPr>
        <p:txBody>
          <a:bodyPr wrap="square" lIns="0" tIns="0" rIns="0" bIns="0" rtlCol="0" anchor="ctr"/>
          <a:lstStyle/>
          <a:p>
            <a:pPr marL="0" indent="0" algn="l">
              <a:lnSpc>
                <a:spcPts val="1720"/>
              </a:lnSpc>
              <a:buNone/>
            </a:pPr>
            <a:r>
              <a:rPr lang="en-US" sz="1380" dirty="0">
                <a:solidFill>
                  <a:srgbClr val="FFFFFF"/>
                </a:solidFill>
                <a:latin typeface="思源黑体-思源黑体-Medium" pitchFamily="34" charset="0"/>
                <a:ea typeface="思源黑体-思源黑体-Medium" pitchFamily="34" charset="-122"/>
                <a:cs typeface="思源黑体-思源黑体-Medium" pitchFamily="34" charset="-120"/>
              </a:rPr>
              <a:t> Reduce manual work for customers and hotel staff by automating the booking process.</a:t>
            </a:r>
            <a:endParaRPr lang="en-US" sz="138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4" name="Text 0"/>
          <p:cNvSpPr/>
          <p:nvPr/>
        </p:nvSpPr>
        <p:spPr>
          <a:xfrm>
            <a:off x="5660136" y="3172968"/>
            <a:ext cx="8293608" cy="1225296"/>
          </a:xfrm>
          <a:prstGeom prst="rect">
            <a:avLst/>
          </a:prstGeom>
          <a:noFill/>
          <a:ln/>
        </p:spPr>
        <p:txBody>
          <a:bodyPr wrap="squar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4. System Architecture: User &amp; Admin Panels</a:t>
            </a:r>
            <a:endParaRPr lang="en-US" sz="3840" dirty="0"/>
          </a:p>
        </p:txBody>
      </p:sp>
      <p:sp>
        <p:nvSpPr>
          <p:cNvPr id="5" name="Text 1"/>
          <p:cNvSpPr/>
          <p:nvPr/>
        </p:nvSpPr>
        <p:spPr>
          <a:xfrm>
            <a:off x="5660136" y="4608576"/>
            <a:ext cx="8293608"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The system is divided into two main modules:</a:t>
            </a:r>
            <a:endParaRPr lang="en-US" sz="153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3063"/>
            <a:ext cx="14630399" cy="3551971"/>
          </a:xfrm>
          <a:prstGeom prst="rect">
            <a:avLst/>
          </a:prstGeom>
        </p:spPr>
      </p:pic>
      <p:sp>
        <p:nvSpPr>
          <p:cNvPr id="4" name="Text 0"/>
          <p:cNvSpPr/>
          <p:nvPr/>
        </p:nvSpPr>
        <p:spPr>
          <a:xfrm>
            <a:off x="685800" y="3739896"/>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User Panel</a:t>
            </a:r>
            <a:endParaRPr lang="en-US" sz="3840" dirty="0"/>
          </a:p>
        </p:txBody>
      </p:sp>
      <p:sp>
        <p:nvSpPr>
          <p:cNvPr id="5" name="Text 1"/>
          <p:cNvSpPr/>
          <p:nvPr/>
        </p:nvSpPr>
        <p:spPr>
          <a:xfrm>
            <a:off x="685800" y="4572000"/>
            <a:ext cx="13267944"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Designed for customers to search, view, and book hotels. Features include user registration, profile management, hotel search with filters, booking management, and providing feedback.</a:t>
            </a:r>
            <a:endParaRPr lang="en-US" sz="1530" dirty="0"/>
          </a:p>
        </p:txBody>
      </p:sp>
      <p:sp>
        <p:nvSpPr>
          <p:cNvPr id="6" name="Text 2"/>
          <p:cNvSpPr/>
          <p:nvPr/>
        </p:nvSpPr>
        <p:spPr>
          <a:xfrm>
            <a:off x="685800" y="5276088"/>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Admin Panel</a:t>
            </a:r>
            <a:endParaRPr lang="en-US" sz="3840" dirty="0"/>
          </a:p>
        </p:txBody>
      </p:sp>
      <p:sp>
        <p:nvSpPr>
          <p:cNvPr id="7" name="Text 3"/>
          <p:cNvSpPr/>
          <p:nvPr/>
        </p:nvSpPr>
        <p:spPr>
          <a:xfrm>
            <a:off x="685800" y="6108192"/>
            <a:ext cx="13267944"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Designed for hotel administrators to manage the platform's content and operations. Features include a secure login, dashboard with statistics, and management of hotels, services, bookings, and users.</a:t>
            </a:r>
            <a:endParaRPr lang="en-US" sz="153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 y="0"/>
            <a:ext cx="4974336" cy="4094750"/>
          </a:xfrm>
          <a:prstGeom prst="rect">
            <a:avLst/>
          </a:prstGeom>
        </p:spPr>
      </p:pic>
      <p:pic>
        <p:nvPicPr>
          <p:cNvPr id="4" name="Image 2" descr="preencoded.png"/>
          <p:cNvPicPr>
            <a:picLocks noChangeAspect="1"/>
          </p:cNvPicPr>
          <p:nvPr/>
        </p:nvPicPr>
        <p:blipFill>
          <a:blip r:embed="rId5"/>
          <a:stretch>
            <a:fillRect/>
          </a:stretch>
        </p:blipFill>
        <p:spPr>
          <a:xfrm>
            <a:off x="5660136" y="2816352"/>
            <a:ext cx="8293608" cy="1225296"/>
          </a:xfrm>
          <a:prstGeom prst="rect">
            <a:avLst/>
          </a:prstGeom>
        </p:spPr>
      </p:pic>
      <p:pic>
        <p:nvPicPr>
          <p:cNvPr id="5" name="Image 3" descr="preencoded.png"/>
          <p:cNvPicPr>
            <a:picLocks noChangeAspect="1"/>
          </p:cNvPicPr>
          <p:nvPr/>
        </p:nvPicPr>
        <p:blipFill>
          <a:blip r:embed="rId6"/>
          <a:stretch>
            <a:fillRect/>
          </a:stretch>
        </p:blipFill>
        <p:spPr>
          <a:xfrm>
            <a:off x="5660136" y="4224528"/>
            <a:ext cx="8293608" cy="1225296"/>
          </a:xfrm>
          <a:prstGeom prst="rect">
            <a:avLst/>
          </a:prstGeom>
        </p:spPr>
      </p:pic>
      <p:pic>
        <p:nvPicPr>
          <p:cNvPr id="6" name="Image 4" descr="preencoded.png"/>
          <p:cNvPicPr>
            <a:picLocks noChangeAspect="1"/>
          </p:cNvPicPr>
          <p:nvPr/>
        </p:nvPicPr>
        <p:blipFill>
          <a:blip r:embed="rId7"/>
          <a:stretch>
            <a:fillRect/>
          </a:stretch>
        </p:blipFill>
        <p:spPr>
          <a:xfrm>
            <a:off x="5660136" y="5641848"/>
            <a:ext cx="8293608" cy="1225296"/>
          </a:xfrm>
          <a:prstGeom prst="rect">
            <a:avLst/>
          </a:prstGeom>
        </p:spPr>
      </p:pic>
      <p:pic>
        <p:nvPicPr>
          <p:cNvPr id="7" name="Image 5" descr="preencoded.png"/>
          <p:cNvPicPr>
            <a:picLocks noChangeAspect="1"/>
          </p:cNvPicPr>
          <p:nvPr/>
        </p:nvPicPr>
        <p:blipFill>
          <a:blip r:embed="rId8"/>
          <a:stretch>
            <a:fillRect/>
          </a:stretch>
        </p:blipFill>
        <p:spPr>
          <a:xfrm>
            <a:off x="5660136" y="2816352"/>
            <a:ext cx="128016" cy="1225296"/>
          </a:xfrm>
          <a:prstGeom prst="rect">
            <a:avLst/>
          </a:prstGeom>
        </p:spPr>
      </p:pic>
      <p:pic>
        <p:nvPicPr>
          <p:cNvPr id="8" name="Image 6" descr="preencoded.png"/>
          <p:cNvPicPr>
            <a:picLocks noChangeAspect="1"/>
          </p:cNvPicPr>
          <p:nvPr/>
        </p:nvPicPr>
        <p:blipFill>
          <a:blip r:embed="rId9"/>
          <a:stretch>
            <a:fillRect/>
          </a:stretch>
        </p:blipFill>
        <p:spPr>
          <a:xfrm>
            <a:off x="5660136" y="4224528"/>
            <a:ext cx="128016" cy="1225296"/>
          </a:xfrm>
          <a:prstGeom prst="rect">
            <a:avLst/>
          </a:prstGeom>
        </p:spPr>
      </p:pic>
      <p:pic>
        <p:nvPicPr>
          <p:cNvPr id="9" name="Image 7" descr="preencoded.png"/>
          <p:cNvPicPr>
            <a:picLocks noChangeAspect="1"/>
          </p:cNvPicPr>
          <p:nvPr/>
        </p:nvPicPr>
        <p:blipFill>
          <a:blip r:embed="rId10"/>
          <a:stretch>
            <a:fillRect/>
          </a:stretch>
        </p:blipFill>
        <p:spPr>
          <a:xfrm>
            <a:off x="5660136" y="5641848"/>
            <a:ext cx="128016" cy="1225296"/>
          </a:xfrm>
          <a:prstGeom prst="rect">
            <a:avLst/>
          </a:prstGeom>
        </p:spPr>
      </p:pic>
      <p:sp>
        <p:nvSpPr>
          <p:cNvPr id="10" name="Text 0"/>
          <p:cNvSpPr/>
          <p:nvPr/>
        </p:nvSpPr>
        <p:spPr>
          <a:xfrm>
            <a:off x="5660136" y="1152144"/>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5. User Panel Features</a:t>
            </a:r>
            <a:endParaRPr lang="en-US" sz="3840" dirty="0"/>
          </a:p>
        </p:txBody>
      </p:sp>
      <p:sp>
        <p:nvSpPr>
          <p:cNvPr id="11" name="Text 1"/>
          <p:cNvSpPr/>
          <p:nvPr/>
        </p:nvSpPr>
        <p:spPr>
          <a:xfrm>
            <a:off x="5660136" y="1984248"/>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Part 1</a:t>
            </a:r>
            <a:endParaRPr lang="en-US" sz="3840" dirty="0"/>
          </a:p>
        </p:txBody>
      </p:sp>
      <p:sp>
        <p:nvSpPr>
          <p:cNvPr id="12" name="Text 2"/>
          <p:cNvSpPr/>
          <p:nvPr/>
        </p:nvSpPr>
        <p:spPr>
          <a:xfrm>
            <a:off x="5952744" y="2935224"/>
            <a:ext cx="7781544"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User Registration &amp; Login</a:t>
            </a:r>
            <a:endParaRPr lang="en-US" sz="1920" dirty="0"/>
          </a:p>
        </p:txBody>
      </p:sp>
      <p:sp>
        <p:nvSpPr>
          <p:cNvPr id="13" name="Text 3"/>
          <p:cNvSpPr/>
          <p:nvPr/>
        </p:nvSpPr>
        <p:spPr>
          <a:xfrm>
            <a:off x="5952744" y="3419856"/>
            <a:ext cx="7781544"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Create a new account with personal details. Secure login using email and password. Profile management to update personal details.</a:t>
            </a:r>
            <a:endParaRPr lang="en-US" sz="1530" dirty="0"/>
          </a:p>
        </p:txBody>
      </p:sp>
      <p:sp>
        <p:nvSpPr>
          <p:cNvPr id="14" name="Text 4"/>
          <p:cNvSpPr/>
          <p:nvPr/>
        </p:nvSpPr>
        <p:spPr>
          <a:xfrm>
            <a:off x="5952744" y="4352544"/>
            <a:ext cx="7781544"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Hotel </a:t>
            </a:r>
            <a:r>
              <a:rPr lang="en-US" sz="1920" dirty="0" smtClean="0">
                <a:solidFill>
                  <a:srgbClr val="FFFFFF"/>
                </a:solidFill>
                <a:latin typeface="思源黑体-思源黑体-Bold" pitchFamily="34" charset="0"/>
                <a:ea typeface="思源黑体-思源黑体-Bold" pitchFamily="34" charset="-122"/>
                <a:cs typeface="思源黑体-思源黑体-Bold" pitchFamily="34" charset="-120"/>
              </a:rPr>
              <a:t>Search </a:t>
            </a: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&amp; Filter</a:t>
            </a:r>
            <a:endParaRPr lang="en-US" sz="1920" dirty="0"/>
          </a:p>
        </p:txBody>
      </p:sp>
      <p:sp>
        <p:nvSpPr>
          <p:cNvPr id="15" name="Text 5"/>
          <p:cNvSpPr/>
          <p:nvPr/>
        </p:nvSpPr>
        <p:spPr>
          <a:xfrm>
            <a:off x="5952744" y="4837176"/>
            <a:ext cx="7781544"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Search hotels by name, location, or category. Apply filters like price range, amenities (WiFi, pool), room type, and ratings.</a:t>
            </a:r>
            <a:endParaRPr lang="en-US" sz="1530" dirty="0"/>
          </a:p>
        </p:txBody>
      </p:sp>
      <p:sp>
        <p:nvSpPr>
          <p:cNvPr id="16" name="Text 6"/>
          <p:cNvSpPr/>
          <p:nvPr/>
        </p:nvSpPr>
        <p:spPr>
          <a:xfrm>
            <a:off x="5952744" y="5769864"/>
            <a:ext cx="7781544"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Hotel &amp; Room Details</a:t>
            </a:r>
            <a:endParaRPr lang="en-US" sz="1920" dirty="0"/>
          </a:p>
        </p:txBody>
      </p:sp>
      <p:sp>
        <p:nvSpPr>
          <p:cNvPr id="17" name="Text 7"/>
          <p:cNvSpPr/>
          <p:nvPr/>
        </p:nvSpPr>
        <p:spPr>
          <a:xfrm>
            <a:off x="5952744" y="6254496"/>
            <a:ext cx="7781544"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View complete information about hotels, including descriptions, images, and services.</a:t>
            </a:r>
            <a:endParaRPr lang="en-US" sz="1530" dirty="0"/>
          </a:p>
        </p:txBody>
      </p:sp>
      <p:pic>
        <p:nvPicPr>
          <p:cNvPr id="18"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 y="0"/>
            <a:ext cx="4974336" cy="4094750"/>
          </a:xfrm>
          <a:prstGeom prst="rect">
            <a:avLst/>
          </a:prstGeom>
        </p:spPr>
      </p:pic>
      <p:pic>
        <p:nvPicPr>
          <p:cNvPr id="20" name="Image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8288" y="4256059"/>
            <a:ext cx="4974336" cy="1847975"/>
          </a:xfrm>
          <a:prstGeom prst="rect">
            <a:avLst/>
          </a:prstGeom>
        </p:spPr>
      </p:pic>
      <p:pic>
        <p:nvPicPr>
          <p:cNvPr id="21" name="Image 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6265343"/>
            <a:ext cx="4965191" cy="184797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5660136" y="1618488"/>
            <a:ext cx="8293608" cy="1810512"/>
          </a:xfrm>
          <a:prstGeom prst="rect">
            <a:avLst/>
          </a:prstGeom>
        </p:spPr>
      </p:pic>
      <p:pic>
        <p:nvPicPr>
          <p:cNvPr id="5" name="Image 3" descr="preencoded.png"/>
          <p:cNvPicPr>
            <a:picLocks noChangeAspect="1"/>
          </p:cNvPicPr>
          <p:nvPr/>
        </p:nvPicPr>
        <p:blipFill>
          <a:blip r:embed="rId6"/>
          <a:stretch>
            <a:fillRect/>
          </a:stretch>
        </p:blipFill>
        <p:spPr>
          <a:xfrm>
            <a:off x="5660136" y="3602736"/>
            <a:ext cx="8293608" cy="1591056"/>
          </a:xfrm>
          <a:prstGeom prst="rect">
            <a:avLst/>
          </a:prstGeom>
        </p:spPr>
      </p:pic>
      <p:pic>
        <p:nvPicPr>
          <p:cNvPr id="6" name="Image 4" descr="preencoded.png"/>
          <p:cNvPicPr>
            <a:picLocks noChangeAspect="1"/>
          </p:cNvPicPr>
          <p:nvPr/>
        </p:nvPicPr>
        <p:blipFill>
          <a:blip r:embed="rId7"/>
          <a:stretch>
            <a:fillRect/>
          </a:stretch>
        </p:blipFill>
        <p:spPr>
          <a:xfrm>
            <a:off x="5660136" y="5367528"/>
            <a:ext cx="8293608" cy="1810512"/>
          </a:xfrm>
          <a:prstGeom prst="rect">
            <a:avLst/>
          </a:prstGeom>
        </p:spPr>
      </p:pic>
      <p:pic>
        <p:nvPicPr>
          <p:cNvPr id="7" name="Image 5" descr="preencoded.png"/>
          <p:cNvPicPr>
            <a:picLocks noChangeAspect="1"/>
          </p:cNvPicPr>
          <p:nvPr/>
        </p:nvPicPr>
        <p:blipFill>
          <a:blip r:embed="rId8"/>
          <a:stretch>
            <a:fillRect/>
          </a:stretch>
        </p:blipFill>
        <p:spPr>
          <a:xfrm>
            <a:off x="5687568" y="2176272"/>
            <a:ext cx="8238744" cy="1225296"/>
          </a:xfrm>
          <a:prstGeom prst="rect">
            <a:avLst/>
          </a:prstGeom>
        </p:spPr>
      </p:pic>
      <p:pic>
        <p:nvPicPr>
          <p:cNvPr id="8" name="Image 6" descr="preencoded.png"/>
          <p:cNvPicPr>
            <a:picLocks noChangeAspect="1"/>
          </p:cNvPicPr>
          <p:nvPr/>
        </p:nvPicPr>
        <p:blipFill>
          <a:blip r:embed="rId9"/>
          <a:stretch>
            <a:fillRect/>
          </a:stretch>
        </p:blipFill>
        <p:spPr>
          <a:xfrm>
            <a:off x="5687568" y="4160520"/>
            <a:ext cx="8238744" cy="1005840"/>
          </a:xfrm>
          <a:prstGeom prst="rect">
            <a:avLst/>
          </a:prstGeom>
        </p:spPr>
      </p:pic>
      <p:pic>
        <p:nvPicPr>
          <p:cNvPr id="9" name="Image 7" descr="preencoded.png"/>
          <p:cNvPicPr>
            <a:picLocks noChangeAspect="1"/>
          </p:cNvPicPr>
          <p:nvPr/>
        </p:nvPicPr>
        <p:blipFill>
          <a:blip r:embed="rId8"/>
          <a:stretch>
            <a:fillRect/>
          </a:stretch>
        </p:blipFill>
        <p:spPr>
          <a:xfrm>
            <a:off x="5687568" y="5925312"/>
            <a:ext cx="8238744" cy="1225296"/>
          </a:xfrm>
          <a:prstGeom prst="rect">
            <a:avLst/>
          </a:prstGeom>
        </p:spPr>
      </p:pic>
      <p:pic>
        <p:nvPicPr>
          <p:cNvPr id="10" name="Image 8" descr="preencoded.png"/>
          <p:cNvPicPr>
            <a:picLocks noChangeAspect="1"/>
          </p:cNvPicPr>
          <p:nvPr/>
        </p:nvPicPr>
        <p:blipFill>
          <a:blip r:embed="rId10"/>
          <a:stretch>
            <a:fillRect/>
          </a:stretch>
        </p:blipFill>
        <p:spPr>
          <a:xfrm>
            <a:off x="5678424" y="1627632"/>
            <a:ext cx="8266176" cy="557784"/>
          </a:xfrm>
          <a:prstGeom prst="rect">
            <a:avLst/>
          </a:prstGeom>
        </p:spPr>
      </p:pic>
      <p:pic>
        <p:nvPicPr>
          <p:cNvPr id="11" name="Image 9" descr="preencoded.png"/>
          <p:cNvPicPr>
            <a:picLocks noChangeAspect="1"/>
          </p:cNvPicPr>
          <p:nvPr/>
        </p:nvPicPr>
        <p:blipFill>
          <a:blip r:embed="rId11"/>
          <a:stretch>
            <a:fillRect/>
          </a:stretch>
        </p:blipFill>
        <p:spPr>
          <a:xfrm>
            <a:off x="5678424" y="3611880"/>
            <a:ext cx="8266176" cy="557784"/>
          </a:xfrm>
          <a:prstGeom prst="rect">
            <a:avLst/>
          </a:prstGeom>
        </p:spPr>
      </p:pic>
      <p:pic>
        <p:nvPicPr>
          <p:cNvPr id="12" name="Image 10" descr="preencoded.png"/>
          <p:cNvPicPr>
            <a:picLocks noChangeAspect="1"/>
          </p:cNvPicPr>
          <p:nvPr/>
        </p:nvPicPr>
        <p:blipFill>
          <a:blip r:embed="rId12"/>
          <a:stretch>
            <a:fillRect/>
          </a:stretch>
        </p:blipFill>
        <p:spPr>
          <a:xfrm>
            <a:off x="5678424" y="5376672"/>
            <a:ext cx="8266176" cy="557784"/>
          </a:xfrm>
          <a:prstGeom prst="rect">
            <a:avLst/>
          </a:prstGeom>
        </p:spPr>
      </p:pic>
      <p:sp>
        <p:nvSpPr>
          <p:cNvPr id="13" name="Text 0"/>
          <p:cNvSpPr/>
          <p:nvPr/>
        </p:nvSpPr>
        <p:spPr>
          <a:xfrm>
            <a:off x="5660136" y="868680"/>
            <a:ext cx="8293608" cy="557784"/>
          </a:xfrm>
          <a:prstGeom prst="rect">
            <a:avLst/>
          </a:prstGeom>
          <a:noFill/>
          <a:ln/>
        </p:spPr>
        <p:txBody>
          <a:bodyPr wrap="none" lIns="0" tIns="0" rIns="0" bIns="0" rtlCol="0" anchor="ctr"/>
          <a:lstStyle/>
          <a:p>
            <a:pPr marL="0" indent="0" algn="l">
              <a:lnSpc>
                <a:spcPts val="4310"/>
              </a:lnSpc>
              <a:buNone/>
            </a:pPr>
            <a:r>
              <a:rPr lang="en-US" sz="3450" dirty="0">
                <a:solidFill>
                  <a:srgbClr val="FFFFFF"/>
                </a:solidFill>
                <a:latin typeface="思源黑体-思源黑体-Bold" pitchFamily="34" charset="0"/>
                <a:ea typeface="思源黑体-思源黑体-Bold" pitchFamily="34" charset="-122"/>
                <a:cs typeface="思源黑体-思源黑体-Bold" pitchFamily="34" charset="-120"/>
              </a:rPr>
              <a:t>Part 2</a:t>
            </a:r>
            <a:endParaRPr lang="en-US" sz="3450" dirty="0"/>
          </a:p>
        </p:txBody>
      </p:sp>
      <p:sp>
        <p:nvSpPr>
          <p:cNvPr id="14" name="Text 1"/>
          <p:cNvSpPr/>
          <p:nvPr/>
        </p:nvSpPr>
        <p:spPr>
          <a:xfrm>
            <a:off x="5870448" y="2350008"/>
            <a:ext cx="7882128" cy="274320"/>
          </a:xfrm>
          <a:prstGeom prst="rect">
            <a:avLst/>
          </a:prstGeom>
          <a:noFill/>
          <a:ln/>
        </p:spPr>
        <p:txBody>
          <a:bodyPr wrap="none" lIns="0" tIns="0" rIns="0" bIns="0" rtlCol="0" anchor="ctr"/>
          <a:lstStyle/>
          <a:p>
            <a:pPr marL="0" indent="0" algn="l">
              <a:lnSpc>
                <a:spcPts val="2150"/>
              </a:lnSpc>
              <a:buNone/>
            </a:pPr>
            <a:r>
              <a:rPr lang="en-US" sz="1720" dirty="0">
                <a:solidFill>
                  <a:srgbClr val="FFFFFF"/>
                </a:solidFill>
                <a:latin typeface="思源黑体-思源黑体-Bold" pitchFamily="34" charset="0"/>
                <a:ea typeface="思源黑体-思源黑体-Bold" pitchFamily="34" charset="-122"/>
                <a:cs typeface="思源黑体-思源黑体-Bold" pitchFamily="34" charset="-120"/>
              </a:rPr>
              <a:t>Booking Management</a:t>
            </a:r>
            <a:endParaRPr lang="en-US" sz="1720" dirty="0"/>
          </a:p>
        </p:txBody>
      </p:sp>
      <p:sp>
        <p:nvSpPr>
          <p:cNvPr id="15" name="Text 2"/>
          <p:cNvSpPr/>
          <p:nvPr/>
        </p:nvSpPr>
        <p:spPr>
          <a:xfrm>
            <a:off x="5870448" y="2779776"/>
            <a:ext cx="7882128" cy="438912"/>
          </a:xfrm>
          <a:prstGeom prst="rect">
            <a:avLst/>
          </a:prstGeom>
          <a:noFill/>
          <a:ln/>
        </p:spPr>
        <p:txBody>
          <a:bodyPr wrap="square" lIns="0" tIns="0" rIns="0" bIns="0" rtlCol="0" anchor="ctr"/>
          <a:lstStyle/>
          <a:p>
            <a:pPr marL="0" indent="0" algn="l">
              <a:lnSpc>
                <a:spcPts val="1720"/>
              </a:lnSpc>
              <a:buNone/>
            </a:pPr>
            <a:r>
              <a:rPr lang="en-US" sz="1380" dirty="0">
                <a:solidFill>
                  <a:srgbClr val="FFFFFF"/>
                </a:solidFill>
                <a:latin typeface="思源黑体-思源黑体-Medium" pitchFamily="34" charset="0"/>
                <a:ea typeface="思源黑体-思源黑体-Medium" pitchFamily="34" charset="-122"/>
                <a:cs typeface="思源黑体-思源黑体-Medium" pitchFamily="34" charset="-120"/>
              </a:rPr>
              <a:t> Book selected rooms in simple steps. View a booking summary before confirmation. Receive on-screen booking confirmation via an Alert Message.</a:t>
            </a:r>
            <a:endParaRPr lang="en-US" sz="1380" dirty="0"/>
          </a:p>
        </p:txBody>
      </p:sp>
      <p:sp>
        <p:nvSpPr>
          <p:cNvPr id="16" name="Text 3"/>
          <p:cNvSpPr/>
          <p:nvPr/>
        </p:nvSpPr>
        <p:spPr>
          <a:xfrm>
            <a:off x="5870448" y="4334256"/>
            <a:ext cx="7882128" cy="274320"/>
          </a:xfrm>
          <a:prstGeom prst="rect">
            <a:avLst/>
          </a:prstGeom>
          <a:noFill/>
          <a:ln/>
        </p:spPr>
        <p:txBody>
          <a:bodyPr wrap="none" lIns="0" tIns="0" rIns="0" bIns="0" rtlCol="0" anchor="ctr"/>
          <a:lstStyle/>
          <a:p>
            <a:pPr marL="0" indent="0" algn="l">
              <a:lnSpc>
                <a:spcPts val="2150"/>
              </a:lnSpc>
              <a:buNone/>
            </a:pPr>
            <a:r>
              <a:rPr lang="en-US" sz="1720" dirty="0">
                <a:solidFill>
                  <a:srgbClr val="FFFFFF"/>
                </a:solidFill>
                <a:latin typeface="思源黑体-思源黑体-Bold" pitchFamily="34" charset="0"/>
                <a:ea typeface="思源黑体-思源黑体-Bold" pitchFamily="34" charset="-122"/>
                <a:cs typeface="思源黑体-思源黑体-Bold" pitchFamily="34" charset="-120"/>
              </a:rPr>
              <a:t>My Bookings</a:t>
            </a:r>
            <a:endParaRPr lang="en-US" sz="1720" dirty="0"/>
          </a:p>
        </p:txBody>
      </p:sp>
      <p:sp>
        <p:nvSpPr>
          <p:cNvPr id="17" name="Text 4"/>
          <p:cNvSpPr/>
          <p:nvPr/>
        </p:nvSpPr>
        <p:spPr>
          <a:xfrm>
            <a:off x="5870448" y="4764024"/>
            <a:ext cx="7882128" cy="219456"/>
          </a:xfrm>
          <a:prstGeom prst="rect">
            <a:avLst/>
          </a:prstGeom>
          <a:noFill/>
          <a:ln/>
        </p:spPr>
        <p:txBody>
          <a:bodyPr wrap="none" lIns="0" tIns="0" rIns="0" bIns="0" rtlCol="0" anchor="ctr"/>
          <a:lstStyle/>
          <a:p>
            <a:pPr marL="0" indent="0" algn="l">
              <a:lnSpc>
                <a:spcPts val="1720"/>
              </a:lnSpc>
              <a:buNone/>
            </a:pPr>
            <a:r>
              <a:rPr lang="en-US" sz="1380" dirty="0">
                <a:solidFill>
                  <a:srgbClr val="FFFFFF"/>
                </a:solidFill>
                <a:latin typeface="思源黑体-思源黑体-Medium" pitchFamily="34" charset="0"/>
                <a:ea typeface="思源黑体-思源黑体-Medium" pitchFamily="34" charset="-122"/>
                <a:cs typeface="思源黑体-思源黑体-Medium" pitchFamily="34" charset="-120"/>
              </a:rPr>
              <a:t> A dedicated section to view all past and upcoming reservations.</a:t>
            </a:r>
            <a:endParaRPr lang="en-US" sz="1380" dirty="0"/>
          </a:p>
        </p:txBody>
      </p:sp>
      <p:sp>
        <p:nvSpPr>
          <p:cNvPr id="18" name="Text 5"/>
          <p:cNvSpPr/>
          <p:nvPr/>
        </p:nvSpPr>
        <p:spPr>
          <a:xfrm>
            <a:off x="5870448" y="6099048"/>
            <a:ext cx="7882128" cy="274320"/>
          </a:xfrm>
          <a:prstGeom prst="rect">
            <a:avLst/>
          </a:prstGeom>
          <a:noFill/>
          <a:ln/>
        </p:spPr>
        <p:txBody>
          <a:bodyPr wrap="none" lIns="0" tIns="0" rIns="0" bIns="0" rtlCol="0" anchor="ctr"/>
          <a:lstStyle/>
          <a:p>
            <a:pPr marL="0" indent="0" algn="l">
              <a:lnSpc>
                <a:spcPts val="2150"/>
              </a:lnSpc>
              <a:buNone/>
            </a:pPr>
            <a:r>
              <a:rPr lang="en-US" sz="1720" dirty="0">
                <a:solidFill>
                  <a:srgbClr val="FFFFFF"/>
                </a:solidFill>
                <a:latin typeface="思源黑体-思源黑体-Bold" pitchFamily="34" charset="0"/>
                <a:ea typeface="思源黑体-思源黑体-Bold" pitchFamily="34" charset="-122"/>
                <a:cs typeface="思源黑体-思源黑体-Bold" pitchFamily="34" charset="-120"/>
              </a:rPr>
              <a:t>Payment &amp; Feedback</a:t>
            </a:r>
            <a:endParaRPr lang="en-US" sz="1720" dirty="0"/>
          </a:p>
        </p:txBody>
      </p:sp>
      <p:sp>
        <p:nvSpPr>
          <p:cNvPr id="19" name="Text 6"/>
          <p:cNvSpPr/>
          <p:nvPr/>
        </p:nvSpPr>
        <p:spPr>
          <a:xfrm>
            <a:off x="5870448" y="6528816"/>
            <a:ext cx="7882128" cy="438912"/>
          </a:xfrm>
          <a:prstGeom prst="rect">
            <a:avLst/>
          </a:prstGeom>
          <a:noFill/>
          <a:ln/>
        </p:spPr>
        <p:txBody>
          <a:bodyPr wrap="square" lIns="0" tIns="0" rIns="0" bIns="0" rtlCol="0" anchor="ctr"/>
          <a:lstStyle/>
          <a:p>
            <a:pPr marL="0" indent="0" algn="l">
              <a:lnSpc>
                <a:spcPts val="1720"/>
              </a:lnSpc>
              <a:buNone/>
            </a:pPr>
            <a:r>
              <a:rPr lang="en-US" sz="1380" dirty="0">
                <a:solidFill>
                  <a:srgbClr val="FFFFFF"/>
                </a:solidFill>
                <a:latin typeface="思源黑体-思源黑体-Medium" pitchFamily="34" charset="0"/>
                <a:ea typeface="思源黑体-思源黑体-Medium" pitchFamily="34" charset="-122"/>
                <a:cs typeface="思源黑体-思源黑体-Medium" pitchFamily="34" charset="-120"/>
              </a:rPr>
              <a:t> Secure payment gateway for online transactions. View payment status (paid or unpaid) in "My Bookings". Option to provide feedback and reviews for hotels.</a:t>
            </a:r>
            <a:endParaRPr lang="en-US" sz="1380" dirty="0"/>
          </a:p>
        </p:txBody>
      </p:sp>
      <p:sp>
        <p:nvSpPr>
          <p:cNvPr id="20" name="Text 7"/>
          <p:cNvSpPr/>
          <p:nvPr/>
        </p:nvSpPr>
        <p:spPr>
          <a:xfrm>
            <a:off x="9747504" y="1755648"/>
            <a:ext cx="128016" cy="320040"/>
          </a:xfrm>
          <a:prstGeom prst="rect">
            <a:avLst/>
          </a:prstGeom>
          <a:noFill/>
          <a:ln/>
        </p:spPr>
        <p:txBody>
          <a:bodyPr wrap="none" lIns="0" tIns="0" rIns="0" bIns="0" rtlCol="0" anchor="ctr"/>
          <a:lstStyle/>
          <a:p>
            <a:pPr marL="0" indent="0" algn="l">
              <a:lnSpc>
                <a:spcPts val="2070"/>
              </a:lnSpc>
              <a:buNone/>
            </a:pPr>
            <a:r>
              <a:rPr lang="en-US" sz="1720" dirty="0">
                <a:solidFill>
                  <a:srgbClr val="FFFFFF"/>
                </a:solidFill>
                <a:latin typeface="思源黑体-思源黑体-Medium" pitchFamily="34" charset="0"/>
                <a:ea typeface="思源黑体-思源黑体-Medium" pitchFamily="34" charset="-122"/>
                <a:cs typeface="思源黑体-思源黑体-Medium" pitchFamily="34" charset="-120"/>
              </a:rPr>
              <a:t>1</a:t>
            </a:r>
            <a:endParaRPr lang="en-US" sz="1720" dirty="0"/>
          </a:p>
        </p:txBody>
      </p:sp>
      <p:sp>
        <p:nvSpPr>
          <p:cNvPr id="21" name="Text 8"/>
          <p:cNvSpPr/>
          <p:nvPr/>
        </p:nvSpPr>
        <p:spPr>
          <a:xfrm>
            <a:off x="9747504" y="3739896"/>
            <a:ext cx="128016" cy="320040"/>
          </a:xfrm>
          <a:prstGeom prst="rect">
            <a:avLst/>
          </a:prstGeom>
          <a:noFill/>
          <a:ln/>
        </p:spPr>
        <p:txBody>
          <a:bodyPr wrap="none" lIns="0" tIns="0" rIns="0" bIns="0" rtlCol="0" anchor="ctr"/>
          <a:lstStyle/>
          <a:p>
            <a:pPr marL="0" indent="0" algn="l">
              <a:lnSpc>
                <a:spcPts val="2070"/>
              </a:lnSpc>
              <a:buNone/>
            </a:pPr>
            <a:r>
              <a:rPr lang="en-US" sz="1720" dirty="0">
                <a:solidFill>
                  <a:srgbClr val="FFFFFF"/>
                </a:solidFill>
                <a:latin typeface="思源黑体-思源黑体-Medium" pitchFamily="34" charset="0"/>
                <a:ea typeface="思源黑体-思源黑体-Medium" pitchFamily="34" charset="-122"/>
                <a:cs typeface="思源黑体-思源黑体-Medium" pitchFamily="34" charset="-120"/>
              </a:rPr>
              <a:t>2</a:t>
            </a:r>
            <a:endParaRPr lang="en-US" sz="1720" dirty="0"/>
          </a:p>
        </p:txBody>
      </p:sp>
      <p:sp>
        <p:nvSpPr>
          <p:cNvPr id="22" name="Text 9"/>
          <p:cNvSpPr/>
          <p:nvPr/>
        </p:nvSpPr>
        <p:spPr>
          <a:xfrm>
            <a:off x="9747504" y="5504688"/>
            <a:ext cx="128016" cy="320040"/>
          </a:xfrm>
          <a:prstGeom prst="rect">
            <a:avLst/>
          </a:prstGeom>
          <a:noFill/>
          <a:ln/>
        </p:spPr>
        <p:txBody>
          <a:bodyPr wrap="none" lIns="0" tIns="0" rIns="0" bIns="0" rtlCol="0" anchor="ctr"/>
          <a:lstStyle/>
          <a:p>
            <a:pPr marL="0" indent="0" algn="l">
              <a:lnSpc>
                <a:spcPts val="2070"/>
              </a:lnSpc>
              <a:buNone/>
            </a:pPr>
            <a:r>
              <a:rPr lang="en-US" sz="1720" dirty="0">
                <a:solidFill>
                  <a:srgbClr val="FFFFFF"/>
                </a:solidFill>
                <a:latin typeface="思源黑体-思源黑体-Medium" pitchFamily="34" charset="0"/>
                <a:ea typeface="思源黑体-思源黑体-Medium" pitchFamily="34" charset="-122"/>
                <a:cs typeface="思源黑体-思源黑体-Medium" pitchFamily="34" charset="-120"/>
              </a:rPr>
              <a:t>3</a:t>
            </a:r>
            <a:endParaRPr lang="en-US" sz="172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37522" y="9144"/>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466344" y="2971800"/>
            <a:ext cx="6537960" cy="2798064"/>
          </a:xfrm>
          <a:prstGeom prst="rect">
            <a:avLst/>
          </a:prstGeom>
        </p:spPr>
      </p:pic>
      <p:pic>
        <p:nvPicPr>
          <p:cNvPr id="5" name="Image 3" descr="preencoded.png"/>
          <p:cNvPicPr>
            <a:picLocks noChangeAspect="1"/>
          </p:cNvPicPr>
          <p:nvPr/>
        </p:nvPicPr>
        <p:blipFill>
          <a:blip r:embed="rId6"/>
          <a:stretch>
            <a:fillRect/>
          </a:stretch>
        </p:blipFill>
        <p:spPr>
          <a:xfrm>
            <a:off x="7415784" y="3026664"/>
            <a:ext cx="6537960" cy="2798064"/>
          </a:xfrm>
          <a:prstGeom prst="rect">
            <a:avLst/>
          </a:prstGeom>
        </p:spPr>
      </p:pic>
      <p:sp>
        <p:nvSpPr>
          <p:cNvPr id="6" name="Text 0"/>
          <p:cNvSpPr/>
          <p:nvPr/>
        </p:nvSpPr>
        <p:spPr>
          <a:xfrm>
            <a:off x="685800" y="220370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6. Admin Panel Features</a:t>
            </a:r>
            <a:endParaRPr lang="en-US" sz="3840" dirty="0"/>
          </a:p>
        </p:txBody>
      </p:sp>
      <p:sp>
        <p:nvSpPr>
          <p:cNvPr id="7" name="Text 1"/>
          <p:cNvSpPr/>
          <p:nvPr/>
        </p:nvSpPr>
        <p:spPr>
          <a:xfrm>
            <a:off x="914400" y="3154680"/>
            <a:ext cx="6089904"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Part 1</a:t>
            </a:r>
            <a:endParaRPr lang="en-US" sz="1920" dirty="0"/>
          </a:p>
        </p:txBody>
      </p:sp>
      <p:sp>
        <p:nvSpPr>
          <p:cNvPr id="8" name="Text 2"/>
          <p:cNvSpPr/>
          <p:nvPr/>
        </p:nvSpPr>
        <p:spPr>
          <a:xfrm>
            <a:off x="914400" y="3639312"/>
            <a:ext cx="6089904" cy="978408"/>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Admin Login &amp; Dashboard: Secure login system for administrators. Dashboard provides an overview of total hotels, rooms, bookings, and users. Displays quick statistics on available rooms and revenue.</a:t>
            </a:r>
            <a:endParaRPr lang="en-US" sz="1530" dirty="0"/>
          </a:p>
        </p:txBody>
      </p:sp>
      <p:sp>
        <p:nvSpPr>
          <p:cNvPr id="9" name="Text 3"/>
          <p:cNvSpPr/>
          <p:nvPr/>
        </p:nvSpPr>
        <p:spPr>
          <a:xfrm>
            <a:off x="914400" y="4791456"/>
            <a:ext cx="6089904" cy="731520"/>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Hotel Management: Add new hotels with complete details (name, address, images, price). Edit, update, or delete existing hotel information.</a:t>
            </a:r>
            <a:endParaRPr lang="en-US" sz="1530" dirty="0"/>
          </a:p>
        </p:txBody>
      </p:sp>
      <p:sp>
        <p:nvSpPr>
          <p:cNvPr id="10" name="Text 4"/>
          <p:cNvSpPr/>
          <p:nvPr/>
        </p:nvSpPr>
        <p:spPr>
          <a:xfrm>
            <a:off x="7644384" y="3154680"/>
            <a:ext cx="6089904"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Part 2</a:t>
            </a:r>
            <a:endParaRPr lang="en-US" sz="1920" dirty="0"/>
          </a:p>
        </p:txBody>
      </p:sp>
      <p:sp>
        <p:nvSpPr>
          <p:cNvPr id="11" name="Text 5"/>
          <p:cNvSpPr/>
          <p:nvPr/>
        </p:nvSpPr>
        <p:spPr>
          <a:xfrm>
            <a:off x="7644384" y="3639312"/>
            <a:ext cx="6089904" cy="731520"/>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Service Management: Add or update services such as WiFi, swimming pool, and parking. Enable or disable services for specific rooms or hotels.</a:t>
            </a:r>
            <a:endParaRPr lang="en-US" sz="1530" dirty="0"/>
          </a:p>
        </p:txBody>
      </p:sp>
      <p:sp>
        <p:nvSpPr>
          <p:cNvPr id="12" name="Text 6"/>
          <p:cNvSpPr/>
          <p:nvPr/>
        </p:nvSpPr>
        <p:spPr>
          <a:xfrm>
            <a:off x="7644384" y="4544568"/>
            <a:ext cx="6089904"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Booking Management: View all customer bookings with details. Approve, modify, or cancel reservations as needed.</a:t>
            </a:r>
            <a:endParaRPr lang="en-US" sz="1530" dirty="0"/>
          </a:p>
        </p:txBody>
      </p:sp>
      <p:sp>
        <p:nvSpPr>
          <p:cNvPr id="13" name="Text 7"/>
          <p:cNvSpPr/>
          <p:nvPr/>
        </p:nvSpPr>
        <p:spPr>
          <a:xfrm>
            <a:off x="7644384" y="5202936"/>
            <a:ext cx="6089904"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User Management: View a list of registered users and their booking history. Handle user queries and complaints.</a:t>
            </a:r>
            <a:endParaRPr lang="en-US" sz="153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14" name="Image 2" descr="preencoded.png"/>
          <p:cNvPicPr>
            <a:picLocks noChangeAspect="1"/>
          </p:cNvPicPr>
          <p:nvPr/>
        </p:nvPicPr>
        <p:blipFill>
          <a:blip r:embed="rId5"/>
          <a:stretch>
            <a:fillRect/>
          </a:stretch>
        </p:blipFill>
        <p:spPr>
          <a:xfrm>
            <a:off x="616589" y="1368013"/>
            <a:ext cx="6537960" cy="6629873"/>
          </a:xfrm>
          <a:prstGeom prst="rect">
            <a:avLst/>
          </a:prstGeom>
        </p:spPr>
      </p:pic>
      <p:sp>
        <p:nvSpPr>
          <p:cNvPr id="4" name="Text 0"/>
          <p:cNvSpPr/>
          <p:nvPr/>
        </p:nvSpPr>
        <p:spPr>
          <a:xfrm>
            <a:off x="681228" y="630936"/>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7. System Flow Diagrams</a:t>
            </a:r>
            <a:endParaRPr lang="en-US" sz="3840" dirty="0"/>
          </a:p>
        </p:txBody>
      </p:sp>
      <p:sp>
        <p:nvSpPr>
          <p:cNvPr id="5" name="Text 1"/>
          <p:cNvSpPr/>
          <p:nvPr/>
        </p:nvSpPr>
        <p:spPr>
          <a:xfrm>
            <a:off x="685800" y="1664208"/>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User </a:t>
            </a:r>
            <a:r>
              <a:rPr lang="en-US" sz="3840" dirty="0" smtClean="0">
                <a:solidFill>
                  <a:srgbClr val="FFFFFF"/>
                </a:solidFill>
                <a:latin typeface="思源黑体-思源黑体-Bold" pitchFamily="34" charset="0"/>
                <a:ea typeface="思源黑体-思源黑体-Bold" pitchFamily="34" charset="-122"/>
                <a:cs typeface="思源黑体-思源黑体-Bold" pitchFamily="34" charset="-120"/>
              </a:rPr>
              <a:t>Process :</a:t>
            </a:r>
            <a:endParaRPr lang="en-US" sz="3840" dirty="0"/>
          </a:p>
        </p:txBody>
      </p:sp>
      <p:sp>
        <p:nvSpPr>
          <p:cNvPr id="6" name="Text 2"/>
          <p:cNvSpPr/>
          <p:nvPr/>
        </p:nvSpPr>
        <p:spPr>
          <a:xfrm>
            <a:off x="685800" y="2898648"/>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7" name="Text 3"/>
          <p:cNvSpPr/>
          <p:nvPr/>
        </p:nvSpPr>
        <p:spPr>
          <a:xfrm>
            <a:off x="685800" y="3364992"/>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8" name="Text 4"/>
          <p:cNvSpPr/>
          <p:nvPr/>
        </p:nvSpPr>
        <p:spPr>
          <a:xfrm>
            <a:off x="745866" y="7077850"/>
            <a:ext cx="6408683"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User signs up or logs in. Searches for hotels and applies filters. </a:t>
            </a: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Views </a:t>
            </a: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hotel and room details. </a:t>
            </a:r>
            <a:endPar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endParaRPr>
          </a:p>
          <a:p>
            <a:pPr marL="0" indent="0" algn="l">
              <a:lnSpc>
                <a:spcPts val="1920"/>
              </a:lnSpc>
              <a:buNone/>
            </a:pP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Selects </a:t>
            </a: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a room and proceeds to payment. Receives booking confirmation upon successful payment. Can view or cancel bookings in the "My Bookings" section.</a:t>
            </a:r>
            <a:endParaRPr lang="en-US" sz="1530" dirty="0"/>
          </a:p>
        </p:txBody>
      </p:sp>
      <p:pic>
        <p:nvPicPr>
          <p:cNvPr id="15" name="Image 2" descr="preencoded.png"/>
          <p:cNvPicPr>
            <a:picLocks noChangeAspect="1"/>
          </p:cNvPicPr>
          <p:nvPr/>
        </p:nvPicPr>
        <p:blipFill>
          <a:blip r:embed="rId5"/>
          <a:stretch>
            <a:fillRect/>
          </a:stretch>
        </p:blipFill>
        <p:spPr>
          <a:xfrm>
            <a:off x="7533973" y="1373570"/>
            <a:ext cx="6537960" cy="6629873"/>
          </a:xfrm>
          <a:prstGeom prst="rect">
            <a:avLst/>
          </a:prstGeom>
        </p:spPr>
      </p:pic>
      <p:sp>
        <p:nvSpPr>
          <p:cNvPr id="9" name="Text 5"/>
          <p:cNvSpPr/>
          <p:nvPr/>
        </p:nvSpPr>
        <p:spPr>
          <a:xfrm>
            <a:off x="7748752" y="1604299"/>
            <a:ext cx="4075386"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Admin </a:t>
            </a:r>
            <a:r>
              <a:rPr lang="en-US" sz="3840" dirty="0" smtClean="0">
                <a:solidFill>
                  <a:srgbClr val="FFFFFF"/>
                </a:solidFill>
                <a:latin typeface="思源黑体-思源黑体-Bold" pitchFamily="34" charset="0"/>
                <a:ea typeface="思源黑体-思源黑体-Bold" pitchFamily="34" charset="-122"/>
                <a:cs typeface="思源黑体-思源黑体-Bold" pitchFamily="34" charset="-120"/>
              </a:rPr>
              <a:t>Process :</a:t>
            </a:r>
            <a:endParaRPr lang="en-US" sz="3840" dirty="0"/>
          </a:p>
        </p:txBody>
      </p:sp>
      <p:sp>
        <p:nvSpPr>
          <p:cNvPr id="11" name="Text 7"/>
          <p:cNvSpPr/>
          <p:nvPr/>
        </p:nvSpPr>
        <p:spPr>
          <a:xfrm>
            <a:off x="685800" y="5824728"/>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2" name="Text 8"/>
          <p:cNvSpPr/>
          <p:nvPr/>
        </p:nvSpPr>
        <p:spPr>
          <a:xfrm>
            <a:off x="7782227" y="6951410"/>
            <a:ext cx="6289706" cy="493776"/>
          </a:xfrm>
          <a:prstGeom prst="rect">
            <a:avLst/>
          </a:prstGeom>
          <a:noFill/>
          <a:ln/>
        </p:spPr>
        <p:txBody>
          <a:bodyPr wrap="square" lIns="0" tIns="0" rIns="0" bIns="0" rtlCol="0" anchor="ctr"/>
          <a:lstStyle/>
          <a:p>
            <a:pPr marL="0" indent="0" algn="l">
              <a:lnSpc>
                <a:spcPts val="1920"/>
              </a:lnSpc>
              <a:buNone/>
            </a:pP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Admin logs into the secure system. Upon successful login, the admin is directed to the dashboard. From the dashboard, the admin can add, update, or delete hotels, manage all hotel listings, and view transactions and revenue.</a:t>
            </a:r>
            <a:endParaRPr lang="en-US" sz="1530" dirty="0"/>
          </a:p>
        </p:txBody>
      </p:sp>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28116" y="2276856"/>
            <a:ext cx="3877741" cy="4339451"/>
          </a:xfrm>
          <a:prstGeom prst="rect">
            <a:avLst/>
          </a:prstGeom>
        </p:spPr>
      </p:pic>
      <p:pic>
        <p:nvPicPr>
          <p:cNvPr id="17" name="Picture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55959" y="2276856"/>
            <a:ext cx="3881421" cy="433945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4379976"/>
            <a:ext cx="4270248" cy="1170432"/>
          </a:xfrm>
          <a:prstGeom prst="rect">
            <a:avLst/>
          </a:prstGeom>
        </p:spPr>
      </p:pic>
      <p:pic>
        <p:nvPicPr>
          <p:cNvPr id="5" name="Image 3" descr="preencoded.png"/>
          <p:cNvPicPr>
            <a:picLocks noChangeAspect="1"/>
          </p:cNvPicPr>
          <p:nvPr/>
        </p:nvPicPr>
        <p:blipFill>
          <a:blip r:embed="rId6"/>
          <a:stretch>
            <a:fillRect/>
          </a:stretch>
        </p:blipFill>
        <p:spPr>
          <a:xfrm>
            <a:off x="685800" y="7047343"/>
            <a:ext cx="6510528" cy="923544"/>
          </a:xfrm>
          <a:prstGeom prst="rect">
            <a:avLst/>
          </a:prstGeom>
        </p:spPr>
      </p:pic>
      <p:pic>
        <p:nvPicPr>
          <p:cNvPr id="6" name="Image 4" descr="preencoded.png"/>
          <p:cNvPicPr>
            <a:picLocks noChangeAspect="1"/>
          </p:cNvPicPr>
          <p:nvPr/>
        </p:nvPicPr>
        <p:blipFill>
          <a:blip r:embed="rId7"/>
          <a:stretch>
            <a:fillRect/>
          </a:stretch>
        </p:blipFill>
        <p:spPr>
          <a:xfrm>
            <a:off x="5184648" y="4379976"/>
            <a:ext cx="3596745" cy="1170432"/>
          </a:xfrm>
          <a:prstGeom prst="rect">
            <a:avLst/>
          </a:prstGeom>
        </p:spPr>
      </p:pic>
      <p:pic>
        <p:nvPicPr>
          <p:cNvPr id="7" name="Image 5" descr="preencoded.png"/>
          <p:cNvPicPr>
            <a:picLocks noChangeAspect="1"/>
          </p:cNvPicPr>
          <p:nvPr/>
        </p:nvPicPr>
        <p:blipFill>
          <a:blip r:embed="rId8"/>
          <a:stretch>
            <a:fillRect/>
          </a:stretch>
        </p:blipFill>
        <p:spPr>
          <a:xfrm>
            <a:off x="7443216" y="7015181"/>
            <a:ext cx="6510528" cy="923544"/>
          </a:xfrm>
          <a:prstGeom prst="rect">
            <a:avLst/>
          </a:prstGeom>
        </p:spPr>
      </p:pic>
      <p:pic>
        <p:nvPicPr>
          <p:cNvPr id="8" name="Image 6" descr="preencoded.png"/>
          <p:cNvPicPr>
            <a:picLocks noChangeAspect="1"/>
          </p:cNvPicPr>
          <p:nvPr/>
        </p:nvPicPr>
        <p:blipFill>
          <a:blip r:embed="rId9"/>
          <a:stretch>
            <a:fillRect/>
          </a:stretch>
        </p:blipFill>
        <p:spPr>
          <a:xfrm>
            <a:off x="685800" y="5772938"/>
            <a:ext cx="4270248" cy="1170432"/>
          </a:xfrm>
          <a:prstGeom prst="rect">
            <a:avLst/>
          </a:prstGeom>
        </p:spPr>
      </p:pic>
      <p:sp>
        <p:nvSpPr>
          <p:cNvPr id="9" name="Text 0"/>
          <p:cNvSpPr/>
          <p:nvPr/>
        </p:nvSpPr>
        <p:spPr>
          <a:xfrm>
            <a:off x="685800" y="1316736"/>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8. Data Flow Diagram</a:t>
            </a:r>
            <a:endParaRPr lang="en-US" sz="3840" dirty="0"/>
          </a:p>
        </p:txBody>
      </p:sp>
      <p:sp>
        <p:nvSpPr>
          <p:cNvPr id="10" name="Text 1"/>
          <p:cNvSpPr/>
          <p:nvPr/>
        </p:nvSpPr>
        <p:spPr>
          <a:xfrm>
            <a:off x="685800" y="2148840"/>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DFD Level 0 (Context Diagram)</a:t>
            </a:r>
            <a:endParaRPr lang="en-US" sz="3840" dirty="0"/>
          </a:p>
        </p:txBody>
      </p:sp>
      <p:sp>
        <p:nvSpPr>
          <p:cNvPr id="12" name="Text 3"/>
          <p:cNvSpPr/>
          <p:nvPr/>
        </p:nvSpPr>
        <p:spPr>
          <a:xfrm>
            <a:off x="685800" y="3438144"/>
            <a:ext cx="13267944" cy="246888"/>
          </a:xfrm>
          <a:prstGeom prst="rect">
            <a:avLst/>
          </a:prstGeom>
          <a:noFill/>
          <a:ln/>
        </p:spPr>
        <p:txBody>
          <a:bodyPr wrap="none" lIns="0" tIns="0" rIns="0" bIns="0" rtlCol="0" anchor="ctr"/>
          <a:lstStyle/>
          <a:p>
            <a:pPr marL="0" indent="0" algn="l">
              <a:lnSpc>
                <a:spcPts val="1920"/>
              </a:lnSpc>
              <a:buNone/>
            </a:pPr>
            <a:endPar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endParaRPr>
          </a:p>
          <a:p>
            <a:pPr marL="0" indent="0" algn="l">
              <a:lnSpc>
                <a:spcPts val="1920"/>
              </a:lnSpc>
              <a:buNone/>
            </a:pP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Overview</a:t>
            </a: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a:t>
            </a:r>
            <a:endParaRPr lang="en-US" sz="1530" dirty="0"/>
          </a:p>
        </p:txBody>
      </p:sp>
      <p:sp>
        <p:nvSpPr>
          <p:cNvPr id="13" name="Text 4"/>
          <p:cNvSpPr/>
          <p:nvPr/>
        </p:nvSpPr>
        <p:spPr>
          <a:xfrm>
            <a:off x="685800" y="3904488"/>
            <a:ext cx="13267944"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This diagram shows the entire Hotel Booking System as a single </a:t>
            </a: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process.</a:t>
            </a:r>
            <a:endParaRPr lang="en-US" sz="1530" dirty="0"/>
          </a:p>
        </p:txBody>
      </p:sp>
      <p:sp>
        <p:nvSpPr>
          <p:cNvPr id="14" name="Text 5"/>
          <p:cNvSpPr/>
          <p:nvPr/>
        </p:nvSpPr>
        <p:spPr>
          <a:xfrm>
            <a:off x="896112" y="4480560"/>
            <a:ext cx="387705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External Entities</a:t>
            </a:r>
            <a:endParaRPr lang="en-US" sz="1920" dirty="0"/>
          </a:p>
        </p:txBody>
      </p:sp>
      <p:sp>
        <p:nvSpPr>
          <p:cNvPr id="15" name="Text 6"/>
          <p:cNvSpPr/>
          <p:nvPr/>
        </p:nvSpPr>
        <p:spPr>
          <a:xfrm>
            <a:off x="896112" y="4956048"/>
            <a:ext cx="3877056"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User and Admin.</a:t>
            </a:r>
            <a:endParaRPr lang="en-US" sz="1530" dirty="0"/>
          </a:p>
        </p:txBody>
      </p:sp>
      <p:sp>
        <p:nvSpPr>
          <p:cNvPr id="16" name="Text 7"/>
          <p:cNvSpPr/>
          <p:nvPr/>
        </p:nvSpPr>
        <p:spPr>
          <a:xfrm>
            <a:off x="896112" y="7151553"/>
            <a:ext cx="611733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Admin Inputs</a:t>
            </a:r>
            <a:endParaRPr lang="en-US" sz="1920" dirty="0"/>
          </a:p>
        </p:txBody>
      </p:sp>
      <p:sp>
        <p:nvSpPr>
          <p:cNvPr id="17" name="Text 8"/>
          <p:cNvSpPr/>
          <p:nvPr/>
        </p:nvSpPr>
        <p:spPr>
          <a:xfrm>
            <a:off x="882396" y="7530555"/>
            <a:ext cx="6117336"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Management requests, hotel data.</a:t>
            </a:r>
            <a:endParaRPr lang="en-US" sz="1530" dirty="0"/>
          </a:p>
        </p:txBody>
      </p:sp>
      <p:sp>
        <p:nvSpPr>
          <p:cNvPr id="18" name="Text 9"/>
          <p:cNvSpPr/>
          <p:nvPr/>
        </p:nvSpPr>
        <p:spPr>
          <a:xfrm>
            <a:off x="5385816" y="4480560"/>
            <a:ext cx="387705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User Inputs</a:t>
            </a:r>
            <a:endParaRPr lang="en-US" sz="1920" dirty="0"/>
          </a:p>
        </p:txBody>
      </p:sp>
      <p:sp>
        <p:nvSpPr>
          <p:cNvPr id="19" name="Text 10"/>
          <p:cNvSpPr/>
          <p:nvPr/>
        </p:nvSpPr>
        <p:spPr>
          <a:xfrm>
            <a:off x="5385816" y="4956048"/>
            <a:ext cx="3877056"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Personal info, search queries, booking requests.</a:t>
            </a:r>
            <a:endParaRPr lang="en-US" sz="1530" dirty="0"/>
          </a:p>
        </p:txBody>
      </p:sp>
      <p:sp>
        <p:nvSpPr>
          <p:cNvPr id="20" name="Text 11"/>
          <p:cNvSpPr/>
          <p:nvPr/>
        </p:nvSpPr>
        <p:spPr>
          <a:xfrm>
            <a:off x="7639812" y="7147927"/>
            <a:ext cx="611733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Admin Outputs</a:t>
            </a:r>
            <a:endParaRPr lang="en-US" sz="1920" dirty="0"/>
          </a:p>
        </p:txBody>
      </p:sp>
      <p:sp>
        <p:nvSpPr>
          <p:cNvPr id="21" name="Text 12"/>
          <p:cNvSpPr/>
          <p:nvPr/>
        </p:nvSpPr>
        <p:spPr>
          <a:xfrm>
            <a:off x="7626096" y="7531817"/>
            <a:ext cx="6117336"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Financial reports, occupancy reports.</a:t>
            </a:r>
            <a:endParaRPr lang="en-US" sz="1530" dirty="0"/>
          </a:p>
        </p:txBody>
      </p:sp>
      <p:sp>
        <p:nvSpPr>
          <p:cNvPr id="22" name="Text 13"/>
          <p:cNvSpPr/>
          <p:nvPr/>
        </p:nvSpPr>
        <p:spPr>
          <a:xfrm>
            <a:off x="882396" y="5934849"/>
            <a:ext cx="387705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User Outputs</a:t>
            </a:r>
            <a:endParaRPr lang="en-US" sz="1920" dirty="0"/>
          </a:p>
        </p:txBody>
      </p:sp>
      <p:sp>
        <p:nvSpPr>
          <p:cNvPr id="23" name="Text 14"/>
          <p:cNvSpPr/>
          <p:nvPr/>
        </p:nvSpPr>
        <p:spPr>
          <a:xfrm>
            <a:off x="896112" y="6358154"/>
            <a:ext cx="3877056"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Room availability, booking confirmation, receipts.</a:t>
            </a:r>
            <a:endParaRPr lang="en-US" sz="1530" dirty="0"/>
          </a:p>
        </p:txBody>
      </p:sp>
      <p:pic>
        <p:nvPicPr>
          <p:cNvPr id="24" name="Picture 2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991706" y="1316737"/>
            <a:ext cx="5255908" cy="539842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9892862" y="413056"/>
            <a:ext cx="4059936" cy="1554388"/>
          </a:xfrm>
          <a:prstGeom prst="rect">
            <a:avLst/>
          </a:prstGeom>
        </p:spPr>
      </p:pic>
      <p:pic>
        <p:nvPicPr>
          <p:cNvPr id="5" name="Image 3" descr="preencoded.png"/>
          <p:cNvPicPr>
            <a:picLocks noChangeAspect="1"/>
          </p:cNvPicPr>
          <p:nvPr/>
        </p:nvPicPr>
        <p:blipFill>
          <a:blip r:embed="rId4"/>
          <a:stretch>
            <a:fillRect/>
          </a:stretch>
        </p:blipFill>
        <p:spPr>
          <a:xfrm>
            <a:off x="9888290" y="3700990"/>
            <a:ext cx="4059936" cy="1995915"/>
          </a:xfrm>
          <a:prstGeom prst="rect">
            <a:avLst/>
          </a:prstGeom>
        </p:spPr>
      </p:pic>
      <p:pic>
        <p:nvPicPr>
          <p:cNvPr id="6" name="Image 4" descr="preencoded.png"/>
          <p:cNvPicPr>
            <a:picLocks noChangeAspect="1"/>
          </p:cNvPicPr>
          <p:nvPr/>
        </p:nvPicPr>
        <p:blipFill>
          <a:blip r:embed="rId5"/>
          <a:stretch>
            <a:fillRect/>
          </a:stretch>
        </p:blipFill>
        <p:spPr>
          <a:xfrm>
            <a:off x="9888290" y="2102763"/>
            <a:ext cx="4059936" cy="1526224"/>
          </a:xfrm>
          <a:prstGeom prst="rect">
            <a:avLst/>
          </a:prstGeom>
        </p:spPr>
      </p:pic>
      <p:pic>
        <p:nvPicPr>
          <p:cNvPr id="7" name="Image 5" descr="preencoded.png"/>
          <p:cNvPicPr>
            <a:picLocks noChangeAspect="1"/>
          </p:cNvPicPr>
          <p:nvPr/>
        </p:nvPicPr>
        <p:blipFill>
          <a:blip r:embed="rId6"/>
          <a:stretch>
            <a:fillRect/>
          </a:stretch>
        </p:blipFill>
        <p:spPr>
          <a:xfrm>
            <a:off x="9892862" y="5768908"/>
            <a:ext cx="4059936" cy="2419824"/>
          </a:xfrm>
          <a:prstGeom prst="rect">
            <a:avLst/>
          </a:prstGeom>
        </p:spPr>
      </p:pic>
      <p:pic>
        <p:nvPicPr>
          <p:cNvPr id="8" name="Image 6" descr="preencoded.png"/>
          <p:cNvPicPr>
            <a:picLocks noChangeAspect="1"/>
          </p:cNvPicPr>
          <p:nvPr/>
        </p:nvPicPr>
        <p:blipFill>
          <a:blip r:embed="rId7"/>
          <a:stretch>
            <a:fillRect/>
          </a:stretch>
        </p:blipFill>
        <p:spPr>
          <a:xfrm>
            <a:off x="10112318" y="1119351"/>
            <a:ext cx="3630168" cy="694944"/>
          </a:xfrm>
          <a:prstGeom prst="rect">
            <a:avLst/>
          </a:prstGeom>
        </p:spPr>
      </p:pic>
      <p:pic>
        <p:nvPicPr>
          <p:cNvPr id="9" name="Image 7" descr="preencoded.png"/>
          <p:cNvPicPr>
            <a:picLocks noChangeAspect="1"/>
          </p:cNvPicPr>
          <p:nvPr/>
        </p:nvPicPr>
        <p:blipFill>
          <a:blip r:embed="rId8"/>
          <a:stretch>
            <a:fillRect/>
          </a:stretch>
        </p:blipFill>
        <p:spPr>
          <a:xfrm>
            <a:off x="10107746" y="4478230"/>
            <a:ext cx="3630168" cy="1300564"/>
          </a:xfrm>
          <a:prstGeom prst="rect">
            <a:avLst/>
          </a:prstGeom>
        </p:spPr>
      </p:pic>
      <p:pic>
        <p:nvPicPr>
          <p:cNvPr id="10" name="Image 8" descr="preencoded.png"/>
          <p:cNvPicPr>
            <a:picLocks noChangeAspect="1"/>
          </p:cNvPicPr>
          <p:nvPr/>
        </p:nvPicPr>
        <p:blipFill>
          <a:blip r:embed="rId7"/>
          <a:stretch>
            <a:fillRect/>
          </a:stretch>
        </p:blipFill>
        <p:spPr>
          <a:xfrm>
            <a:off x="10103174" y="2841454"/>
            <a:ext cx="3630168" cy="694944"/>
          </a:xfrm>
          <a:prstGeom prst="rect">
            <a:avLst/>
          </a:prstGeom>
        </p:spPr>
      </p:pic>
      <p:pic>
        <p:nvPicPr>
          <p:cNvPr id="11" name="Image 9" descr="preencoded.png"/>
          <p:cNvPicPr>
            <a:picLocks noChangeAspect="1"/>
          </p:cNvPicPr>
          <p:nvPr/>
        </p:nvPicPr>
        <p:blipFill>
          <a:blip r:embed="rId8"/>
          <a:stretch>
            <a:fillRect/>
          </a:stretch>
        </p:blipFill>
        <p:spPr>
          <a:xfrm>
            <a:off x="10103174" y="6546148"/>
            <a:ext cx="3630168" cy="1847088"/>
          </a:xfrm>
          <a:prstGeom prst="rect">
            <a:avLst/>
          </a:prstGeom>
        </p:spPr>
      </p:pic>
      <p:pic>
        <p:nvPicPr>
          <p:cNvPr id="12" name="Image 10" descr="preencoded.png"/>
          <p:cNvPicPr>
            <a:picLocks noChangeAspect="1"/>
          </p:cNvPicPr>
          <p:nvPr/>
        </p:nvPicPr>
        <p:blipFill>
          <a:blip r:embed="rId9"/>
          <a:stretch>
            <a:fillRect/>
          </a:stretch>
        </p:blipFill>
        <p:spPr>
          <a:xfrm>
            <a:off x="10094030" y="552423"/>
            <a:ext cx="402336" cy="402336"/>
          </a:xfrm>
          <a:prstGeom prst="rect">
            <a:avLst/>
          </a:prstGeom>
        </p:spPr>
      </p:pic>
      <p:pic>
        <p:nvPicPr>
          <p:cNvPr id="13" name="Image 11" descr="preencoded.png"/>
          <p:cNvPicPr>
            <a:picLocks noChangeAspect="1"/>
          </p:cNvPicPr>
          <p:nvPr/>
        </p:nvPicPr>
        <p:blipFill>
          <a:blip r:embed="rId10"/>
          <a:stretch>
            <a:fillRect/>
          </a:stretch>
        </p:blipFill>
        <p:spPr>
          <a:xfrm>
            <a:off x="10089458" y="3902158"/>
            <a:ext cx="402336" cy="283291"/>
          </a:xfrm>
          <a:prstGeom prst="rect">
            <a:avLst/>
          </a:prstGeom>
        </p:spPr>
      </p:pic>
      <p:pic>
        <p:nvPicPr>
          <p:cNvPr id="14" name="Image 12" descr="preencoded.png"/>
          <p:cNvPicPr>
            <a:picLocks noChangeAspect="1"/>
          </p:cNvPicPr>
          <p:nvPr/>
        </p:nvPicPr>
        <p:blipFill>
          <a:blip r:embed="rId11"/>
          <a:stretch>
            <a:fillRect/>
          </a:stretch>
        </p:blipFill>
        <p:spPr>
          <a:xfrm>
            <a:off x="10094030" y="2274526"/>
            <a:ext cx="402336" cy="402336"/>
          </a:xfrm>
          <a:prstGeom prst="rect">
            <a:avLst/>
          </a:prstGeom>
        </p:spPr>
      </p:pic>
      <p:pic>
        <p:nvPicPr>
          <p:cNvPr id="15" name="Image 13" descr="preencoded.png"/>
          <p:cNvPicPr>
            <a:picLocks noChangeAspect="1"/>
          </p:cNvPicPr>
          <p:nvPr/>
        </p:nvPicPr>
        <p:blipFill>
          <a:blip r:embed="rId9"/>
          <a:stretch>
            <a:fillRect/>
          </a:stretch>
        </p:blipFill>
        <p:spPr>
          <a:xfrm>
            <a:off x="10094030" y="5970076"/>
            <a:ext cx="402336" cy="402336"/>
          </a:xfrm>
          <a:prstGeom prst="rect">
            <a:avLst/>
          </a:prstGeom>
        </p:spPr>
      </p:pic>
      <p:sp>
        <p:nvSpPr>
          <p:cNvPr id="16" name="Text 0"/>
          <p:cNvSpPr/>
          <p:nvPr/>
        </p:nvSpPr>
        <p:spPr>
          <a:xfrm>
            <a:off x="685800" y="841248"/>
            <a:ext cx="8293608" cy="585216"/>
          </a:xfrm>
          <a:prstGeom prst="rect">
            <a:avLst/>
          </a:prstGeom>
          <a:noFill/>
          <a:ln/>
        </p:spPr>
        <p:txBody>
          <a:bodyPr wrap="none" lIns="0" tIns="0" rIns="0" bIns="0" rtlCol="0" anchor="ctr"/>
          <a:lstStyle/>
          <a:p>
            <a:pPr marL="0" indent="0" algn="l">
              <a:lnSpc>
                <a:spcPts val="4550"/>
              </a:lnSpc>
              <a:buNone/>
            </a:pPr>
            <a:r>
              <a:rPr lang="en-US" sz="3640" dirty="0">
                <a:solidFill>
                  <a:srgbClr val="FFFFFF"/>
                </a:solidFill>
                <a:latin typeface="思源黑体-思源黑体-Bold" pitchFamily="34" charset="0"/>
                <a:ea typeface="思源黑体-思源黑体-Bold" pitchFamily="34" charset="-122"/>
                <a:cs typeface="思源黑体-思源黑体-Bold" pitchFamily="34" charset="-120"/>
              </a:rPr>
              <a:t>9. E-R Diagram</a:t>
            </a:r>
            <a:endParaRPr lang="en-US" sz="3640" dirty="0"/>
          </a:p>
        </p:txBody>
      </p:sp>
      <p:sp>
        <p:nvSpPr>
          <p:cNvPr id="19" name="Text 3"/>
          <p:cNvSpPr/>
          <p:nvPr/>
        </p:nvSpPr>
        <p:spPr>
          <a:xfrm>
            <a:off x="10231190" y="588999"/>
            <a:ext cx="137160" cy="329184"/>
          </a:xfrm>
          <a:prstGeom prst="rect">
            <a:avLst/>
          </a:prstGeom>
          <a:noFill/>
          <a:ln/>
        </p:spPr>
        <p:txBody>
          <a:bodyPr wrap="none" lIns="0" tIns="0" rIns="0" bIns="0" rtlCol="0" anchor="ctr"/>
          <a:lstStyle/>
          <a:p>
            <a:pPr marL="0" indent="0" algn="l">
              <a:lnSpc>
                <a:spcPts val="2180"/>
              </a:lnSpc>
              <a:buNone/>
            </a:pPr>
            <a:r>
              <a:rPr lang="en-US" sz="1820" dirty="0">
                <a:solidFill>
                  <a:srgbClr val="FFFFFF"/>
                </a:solidFill>
                <a:latin typeface="思源黑体-思源黑体-Medium" pitchFamily="34" charset="0"/>
                <a:ea typeface="思源黑体-思源黑体-Medium" pitchFamily="34" charset="-122"/>
                <a:cs typeface="思源黑体-思源黑体-Medium" pitchFamily="34" charset="-120"/>
              </a:rPr>
              <a:t>1</a:t>
            </a:r>
            <a:endParaRPr lang="en-US" sz="1820" dirty="0"/>
          </a:p>
        </p:txBody>
      </p:sp>
      <p:sp>
        <p:nvSpPr>
          <p:cNvPr id="20" name="Text 4"/>
          <p:cNvSpPr/>
          <p:nvPr/>
        </p:nvSpPr>
        <p:spPr>
          <a:xfrm>
            <a:off x="10112318" y="1119351"/>
            <a:ext cx="3630168" cy="292608"/>
          </a:xfrm>
          <a:prstGeom prst="rect">
            <a:avLst/>
          </a:prstGeom>
          <a:noFill/>
          <a:ln/>
        </p:spPr>
        <p:txBody>
          <a:bodyPr wrap="none" lIns="0" tIns="0" rIns="0" bIns="0" rtlCol="0" anchor="ctr"/>
          <a:lstStyle/>
          <a:p>
            <a:pPr marL="0" indent="0" algn="l">
              <a:lnSpc>
                <a:spcPts val="2270"/>
              </a:lnSpc>
              <a:buNone/>
            </a:pPr>
            <a:r>
              <a:rPr lang="en-US" sz="1820" dirty="0">
                <a:solidFill>
                  <a:srgbClr val="FFFFFF"/>
                </a:solidFill>
                <a:latin typeface="思源黑体-思源黑体-Bold" pitchFamily="34" charset="0"/>
                <a:ea typeface="思源黑体-思源黑体-Bold" pitchFamily="34" charset="-122"/>
                <a:cs typeface="思源黑体-思源黑体-Bold" pitchFamily="34" charset="-120"/>
              </a:rPr>
              <a:t>ADMIN</a:t>
            </a:r>
            <a:endParaRPr lang="en-US" sz="1820" dirty="0"/>
          </a:p>
        </p:txBody>
      </p:sp>
      <p:sp>
        <p:nvSpPr>
          <p:cNvPr id="21" name="Text 5"/>
          <p:cNvSpPr/>
          <p:nvPr/>
        </p:nvSpPr>
        <p:spPr>
          <a:xfrm>
            <a:off x="10112318" y="1576551"/>
            <a:ext cx="3630168" cy="237744"/>
          </a:xfrm>
          <a:prstGeom prst="rect">
            <a:avLst/>
          </a:prstGeom>
          <a:noFill/>
          <a:ln/>
        </p:spPr>
        <p:txBody>
          <a:bodyPr wrap="none" lIns="0" tIns="0" rIns="0" bIns="0" rtlCol="0" anchor="ctr"/>
          <a:lstStyle/>
          <a:p>
            <a:pPr marL="0" indent="0" algn="l">
              <a:lnSpc>
                <a:spcPts val="1820"/>
              </a:lnSpc>
              <a:buNone/>
            </a:pPr>
            <a:r>
              <a:rPr lang="en-US" sz="1450" dirty="0">
                <a:solidFill>
                  <a:srgbClr val="FFFFFF"/>
                </a:solidFill>
                <a:latin typeface="思源黑体-思源黑体-Medium" pitchFamily="34" charset="0"/>
                <a:ea typeface="思源黑体-思源黑体-Medium" pitchFamily="34" charset="-122"/>
                <a:cs typeface="思源黑体-思源黑体-Medium" pitchFamily="34" charset="-120"/>
              </a:rPr>
              <a:t> Manages the system.</a:t>
            </a:r>
            <a:endParaRPr lang="en-US" sz="1450" dirty="0"/>
          </a:p>
        </p:txBody>
      </p:sp>
      <p:sp>
        <p:nvSpPr>
          <p:cNvPr id="22" name="Text 6"/>
          <p:cNvSpPr/>
          <p:nvPr/>
        </p:nvSpPr>
        <p:spPr>
          <a:xfrm>
            <a:off x="10226618" y="3938734"/>
            <a:ext cx="137160" cy="231784"/>
          </a:xfrm>
          <a:prstGeom prst="rect">
            <a:avLst/>
          </a:prstGeom>
          <a:noFill/>
          <a:ln/>
        </p:spPr>
        <p:txBody>
          <a:bodyPr wrap="none" lIns="0" tIns="0" rIns="0" bIns="0" rtlCol="0" anchor="ctr"/>
          <a:lstStyle/>
          <a:p>
            <a:pPr marL="0" indent="0" algn="l">
              <a:lnSpc>
                <a:spcPts val="2180"/>
              </a:lnSpc>
              <a:buNone/>
            </a:pPr>
            <a:r>
              <a:rPr lang="en-US" sz="1820" dirty="0">
                <a:solidFill>
                  <a:srgbClr val="FFFFFF"/>
                </a:solidFill>
                <a:latin typeface="思源黑体-思源黑体-Medium" pitchFamily="34" charset="0"/>
                <a:ea typeface="思源黑体-思源黑体-Medium" pitchFamily="34" charset="-122"/>
                <a:cs typeface="思源黑体-思源黑体-Medium" pitchFamily="34" charset="-120"/>
              </a:rPr>
              <a:t>3</a:t>
            </a:r>
            <a:endParaRPr lang="en-US" sz="1820" dirty="0"/>
          </a:p>
        </p:txBody>
      </p:sp>
      <p:sp>
        <p:nvSpPr>
          <p:cNvPr id="23" name="Text 7"/>
          <p:cNvSpPr/>
          <p:nvPr/>
        </p:nvSpPr>
        <p:spPr>
          <a:xfrm>
            <a:off x="10107746" y="4478230"/>
            <a:ext cx="3630168" cy="206030"/>
          </a:xfrm>
          <a:prstGeom prst="rect">
            <a:avLst/>
          </a:prstGeom>
          <a:noFill/>
          <a:ln/>
        </p:spPr>
        <p:txBody>
          <a:bodyPr wrap="none" lIns="0" tIns="0" rIns="0" bIns="0" rtlCol="0" anchor="ctr"/>
          <a:lstStyle/>
          <a:p>
            <a:pPr marL="0" indent="0" algn="l">
              <a:lnSpc>
                <a:spcPts val="2270"/>
              </a:lnSpc>
              <a:buNone/>
            </a:pPr>
            <a:r>
              <a:rPr lang="en-US" sz="1820" dirty="0">
                <a:solidFill>
                  <a:srgbClr val="FFFFFF"/>
                </a:solidFill>
                <a:latin typeface="思源黑体-思源黑体-Bold" pitchFamily="34" charset="0"/>
                <a:ea typeface="思源黑体-思源黑体-Bold" pitchFamily="34" charset="-122"/>
                <a:cs typeface="思源黑体-思源黑体-Bold" pitchFamily="34" charset="-120"/>
              </a:rPr>
              <a:t>HOTEL</a:t>
            </a:r>
            <a:endParaRPr lang="en-US" sz="1820" dirty="0"/>
          </a:p>
        </p:txBody>
      </p:sp>
      <p:sp>
        <p:nvSpPr>
          <p:cNvPr id="24" name="Text 8"/>
          <p:cNvSpPr/>
          <p:nvPr/>
        </p:nvSpPr>
        <p:spPr>
          <a:xfrm>
            <a:off x="10107746" y="4926286"/>
            <a:ext cx="3630168" cy="328360"/>
          </a:xfrm>
          <a:prstGeom prst="rect">
            <a:avLst/>
          </a:prstGeom>
          <a:noFill/>
          <a:ln/>
        </p:spPr>
        <p:txBody>
          <a:bodyPr wrap="square" lIns="0" tIns="0" rIns="0" bIns="0" rtlCol="0" anchor="ctr"/>
          <a:lstStyle/>
          <a:p>
            <a:pPr marL="0" indent="0" algn="l">
              <a:lnSpc>
                <a:spcPts val="1820"/>
              </a:lnSpc>
              <a:buNone/>
            </a:pPr>
            <a:r>
              <a:rPr lang="en-US" sz="1450" dirty="0">
                <a:solidFill>
                  <a:srgbClr val="FFFFFF"/>
                </a:solidFill>
                <a:latin typeface="思源黑体-思源黑体-Medium" pitchFamily="34" charset="0"/>
                <a:ea typeface="思源黑体-思源黑体-Medium" pitchFamily="34" charset="-122"/>
                <a:cs typeface="思源黑体-思源黑体-Medium" pitchFamily="34" charset="-120"/>
              </a:rPr>
              <a:t> Contains details like name, location, and rooms.</a:t>
            </a:r>
            <a:endParaRPr lang="en-US" sz="1450" dirty="0"/>
          </a:p>
        </p:txBody>
      </p:sp>
      <p:sp>
        <p:nvSpPr>
          <p:cNvPr id="25" name="Text 9"/>
          <p:cNvSpPr/>
          <p:nvPr/>
        </p:nvSpPr>
        <p:spPr>
          <a:xfrm>
            <a:off x="10222046" y="2311102"/>
            <a:ext cx="137160" cy="329184"/>
          </a:xfrm>
          <a:prstGeom prst="rect">
            <a:avLst/>
          </a:prstGeom>
          <a:noFill/>
          <a:ln/>
        </p:spPr>
        <p:txBody>
          <a:bodyPr wrap="none" lIns="0" tIns="0" rIns="0" bIns="0" rtlCol="0" anchor="ctr"/>
          <a:lstStyle/>
          <a:p>
            <a:pPr marL="0" indent="0" algn="l">
              <a:lnSpc>
                <a:spcPts val="2180"/>
              </a:lnSpc>
              <a:buNone/>
            </a:pPr>
            <a:r>
              <a:rPr lang="en-US" sz="1820" dirty="0">
                <a:solidFill>
                  <a:srgbClr val="FFFFFF"/>
                </a:solidFill>
                <a:latin typeface="思源黑体-思源黑体-Medium" pitchFamily="34" charset="0"/>
                <a:ea typeface="思源黑体-思源黑体-Medium" pitchFamily="34" charset="-122"/>
                <a:cs typeface="思源黑体-思源黑体-Medium" pitchFamily="34" charset="-120"/>
              </a:rPr>
              <a:t>2</a:t>
            </a:r>
            <a:endParaRPr lang="en-US" sz="1820" dirty="0"/>
          </a:p>
        </p:txBody>
      </p:sp>
      <p:sp>
        <p:nvSpPr>
          <p:cNvPr id="26" name="Text 10"/>
          <p:cNvSpPr/>
          <p:nvPr/>
        </p:nvSpPr>
        <p:spPr>
          <a:xfrm>
            <a:off x="10103174" y="2841454"/>
            <a:ext cx="3630168" cy="292608"/>
          </a:xfrm>
          <a:prstGeom prst="rect">
            <a:avLst/>
          </a:prstGeom>
          <a:noFill/>
          <a:ln/>
        </p:spPr>
        <p:txBody>
          <a:bodyPr wrap="none" lIns="0" tIns="0" rIns="0" bIns="0" rtlCol="0" anchor="ctr"/>
          <a:lstStyle/>
          <a:p>
            <a:pPr marL="0" indent="0" algn="l">
              <a:lnSpc>
                <a:spcPts val="2270"/>
              </a:lnSpc>
              <a:buNone/>
            </a:pPr>
            <a:r>
              <a:rPr lang="en-US" sz="1820" dirty="0">
                <a:solidFill>
                  <a:srgbClr val="FFFFFF"/>
                </a:solidFill>
                <a:latin typeface="思源黑体-思源黑体-Bold" pitchFamily="34" charset="0"/>
                <a:ea typeface="思源黑体-思源黑体-Bold" pitchFamily="34" charset="-122"/>
                <a:cs typeface="思源黑体-思源黑体-Bold" pitchFamily="34" charset="-120"/>
              </a:rPr>
              <a:t>USER</a:t>
            </a:r>
            <a:endParaRPr lang="en-US" sz="1820" dirty="0"/>
          </a:p>
        </p:txBody>
      </p:sp>
      <p:sp>
        <p:nvSpPr>
          <p:cNvPr id="27" name="Text 11"/>
          <p:cNvSpPr/>
          <p:nvPr/>
        </p:nvSpPr>
        <p:spPr>
          <a:xfrm>
            <a:off x="10103174" y="3298654"/>
            <a:ext cx="3630168" cy="237744"/>
          </a:xfrm>
          <a:prstGeom prst="rect">
            <a:avLst/>
          </a:prstGeom>
          <a:noFill/>
          <a:ln/>
        </p:spPr>
        <p:txBody>
          <a:bodyPr wrap="none" lIns="0" tIns="0" rIns="0" bIns="0" rtlCol="0" anchor="ctr"/>
          <a:lstStyle/>
          <a:p>
            <a:pPr marL="0" indent="0" algn="l">
              <a:lnSpc>
                <a:spcPts val="1820"/>
              </a:lnSpc>
              <a:buNone/>
            </a:pPr>
            <a:r>
              <a:rPr lang="en-US" sz="1450" dirty="0">
                <a:solidFill>
                  <a:srgbClr val="FFFFFF"/>
                </a:solidFill>
                <a:latin typeface="思源黑体-思源黑体-Medium" pitchFamily="34" charset="0"/>
                <a:ea typeface="思源黑体-思源黑体-Medium" pitchFamily="34" charset="-122"/>
                <a:cs typeface="思源黑体-思源黑体-Medium" pitchFamily="34" charset="-120"/>
              </a:rPr>
              <a:t> Makes bookings.</a:t>
            </a:r>
            <a:endParaRPr lang="en-US" sz="1450" dirty="0"/>
          </a:p>
        </p:txBody>
      </p:sp>
      <p:sp>
        <p:nvSpPr>
          <p:cNvPr id="28" name="Text 12"/>
          <p:cNvSpPr/>
          <p:nvPr/>
        </p:nvSpPr>
        <p:spPr>
          <a:xfrm>
            <a:off x="10222046" y="6006652"/>
            <a:ext cx="137160" cy="329184"/>
          </a:xfrm>
          <a:prstGeom prst="rect">
            <a:avLst/>
          </a:prstGeom>
          <a:noFill/>
          <a:ln/>
        </p:spPr>
        <p:txBody>
          <a:bodyPr wrap="none" lIns="0" tIns="0" rIns="0" bIns="0" rtlCol="0" anchor="ctr"/>
          <a:lstStyle/>
          <a:p>
            <a:pPr marL="0" indent="0" algn="l">
              <a:lnSpc>
                <a:spcPts val="2180"/>
              </a:lnSpc>
              <a:buNone/>
            </a:pPr>
            <a:r>
              <a:rPr lang="en-US" sz="1820" dirty="0">
                <a:solidFill>
                  <a:srgbClr val="FFFFFF"/>
                </a:solidFill>
                <a:latin typeface="思源黑体-思源黑体-Medium" pitchFamily="34" charset="0"/>
                <a:ea typeface="思源黑体-思源黑体-Medium" pitchFamily="34" charset="-122"/>
                <a:cs typeface="思源黑体-思源黑体-Medium" pitchFamily="34" charset="-120"/>
              </a:rPr>
              <a:t>4</a:t>
            </a:r>
            <a:endParaRPr lang="en-US" sz="1820" dirty="0"/>
          </a:p>
        </p:txBody>
      </p:sp>
      <p:sp>
        <p:nvSpPr>
          <p:cNvPr id="29" name="Text 13"/>
          <p:cNvSpPr/>
          <p:nvPr/>
        </p:nvSpPr>
        <p:spPr>
          <a:xfrm>
            <a:off x="10103174" y="6546148"/>
            <a:ext cx="3630168" cy="292608"/>
          </a:xfrm>
          <a:prstGeom prst="rect">
            <a:avLst/>
          </a:prstGeom>
          <a:noFill/>
          <a:ln/>
        </p:spPr>
        <p:txBody>
          <a:bodyPr wrap="none" lIns="0" tIns="0" rIns="0" bIns="0" rtlCol="0" anchor="ctr"/>
          <a:lstStyle/>
          <a:p>
            <a:pPr marL="0" indent="0" algn="l">
              <a:lnSpc>
                <a:spcPts val="2270"/>
              </a:lnSpc>
              <a:buNone/>
            </a:pPr>
            <a:r>
              <a:rPr lang="en-US" sz="1820" dirty="0">
                <a:solidFill>
                  <a:srgbClr val="FFFFFF"/>
                </a:solidFill>
                <a:latin typeface="思源黑体-思源黑体-Bold" pitchFamily="34" charset="0"/>
                <a:ea typeface="思源黑体-思源黑体-Bold" pitchFamily="34" charset="-122"/>
                <a:cs typeface="思源黑体-思源黑体-Bold" pitchFamily="34" charset="-120"/>
              </a:rPr>
              <a:t>BOOKING</a:t>
            </a:r>
            <a:endParaRPr lang="en-US" sz="1820" dirty="0"/>
          </a:p>
        </p:txBody>
      </p:sp>
      <p:sp>
        <p:nvSpPr>
          <p:cNvPr id="30" name="Text 14"/>
          <p:cNvSpPr/>
          <p:nvPr/>
        </p:nvSpPr>
        <p:spPr>
          <a:xfrm>
            <a:off x="10103174" y="6994204"/>
            <a:ext cx="3630168" cy="1389888"/>
          </a:xfrm>
          <a:prstGeom prst="rect">
            <a:avLst/>
          </a:prstGeom>
          <a:noFill/>
          <a:ln/>
        </p:spPr>
        <p:txBody>
          <a:bodyPr wrap="square" lIns="0" tIns="0" rIns="0" bIns="0" rtlCol="0" anchor="ctr"/>
          <a:lstStyle/>
          <a:p>
            <a:pPr marL="0" indent="0" algn="l">
              <a:lnSpc>
                <a:spcPts val="1820"/>
              </a:lnSpc>
              <a:buNone/>
            </a:pPr>
            <a:r>
              <a:rPr lang="en-US" sz="1450" dirty="0">
                <a:solidFill>
                  <a:srgbClr val="FFFFFF"/>
                </a:solidFill>
                <a:latin typeface="思源黑体-思源黑体-Medium" pitchFamily="34" charset="0"/>
                <a:ea typeface="思源黑体-思源黑体-Medium" pitchFamily="34" charset="-122"/>
                <a:cs typeface="思源黑体-思源黑体-Medium" pitchFamily="34" charset="-120"/>
              </a:rPr>
              <a:t> A central entity linking a USER to a HOTEL, containing details like check-in/out dates and </a:t>
            </a:r>
            <a:r>
              <a:rPr lang="en-US" sz="1450" dirty="0" smtClean="0">
                <a:solidFill>
                  <a:srgbClr val="FFFFFF"/>
                </a:solidFill>
                <a:latin typeface="思源黑体-思源黑体-Medium" pitchFamily="34" charset="0"/>
                <a:ea typeface="思源黑体-思源黑体-Medium" pitchFamily="34" charset="-122"/>
                <a:cs typeface="思源黑体-思源黑体-Medium" pitchFamily="34" charset="-120"/>
              </a:rPr>
              <a:t>status, </a:t>
            </a:r>
            <a:r>
              <a:rPr lang="en-US" sz="1450" dirty="0">
                <a:solidFill>
                  <a:srgbClr val="FFFFFF"/>
                </a:solidFill>
                <a:latin typeface="思源黑体-思源黑体-Medium" pitchFamily="34" charset="0"/>
                <a:ea typeface="思源黑体-思源黑体-Medium" pitchFamily="34" charset="-122"/>
                <a:cs typeface="思源黑体-思源黑体-Medium" pitchFamily="34" charset="-120"/>
              </a:rPr>
              <a:t>and how a User makes a Booking for a Hotel.</a:t>
            </a:r>
            <a:endParaRPr lang="en-US" sz="1450" dirty="0"/>
          </a:p>
        </p:txBody>
      </p:sp>
      <p:pic>
        <p:nvPicPr>
          <p:cNvPr id="32" name="Picture 3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77757" y="1695423"/>
            <a:ext cx="9229081" cy="6096000"/>
          </a:xfrm>
          <a:prstGeom prst="rect">
            <a:avLst/>
          </a:prstGeom>
        </p:spPr>
      </p:pic>
      <p:pic>
        <p:nvPicPr>
          <p:cNvPr id="33" name="Picture 3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09209" y="1967444"/>
            <a:ext cx="9229081" cy="609600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5660136" y="3200400"/>
            <a:ext cx="4050792" cy="1417320"/>
          </a:xfrm>
          <a:prstGeom prst="rect">
            <a:avLst/>
          </a:prstGeom>
        </p:spPr>
      </p:pic>
      <p:pic>
        <p:nvPicPr>
          <p:cNvPr id="5" name="Image 3" descr="preencoded.png"/>
          <p:cNvPicPr>
            <a:picLocks noChangeAspect="1"/>
          </p:cNvPicPr>
          <p:nvPr/>
        </p:nvPicPr>
        <p:blipFill>
          <a:blip r:embed="rId6"/>
          <a:stretch>
            <a:fillRect/>
          </a:stretch>
        </p:blipFill>
        <p:spPr>
          <a:xfrm>
            <a:off x="5660136" y="4818888"/>
            <a:ext cx="4050792" cy="1664208"/>
          </a:xfrm>
          <a:prstGeom prst="rect">
            <a:avLst/>
          </a:prstGeom>
        </p:spPr>
      </p:pic>
      <p:pic>
        <p:nvPicPr>
          <p:cNvPr id="6" name="Image 4" descr="preencoded.png"/>
          <p:cNvPicPr>
            <a:picLocks noChangeAspect="1"/>
          </p:cNvPicPr>
          <p:nvPr/>
        </p:nvPicPr>
        <p:blipFill>
          <a:blip r:embed="rId7"/>
          <a:stretch>
            <a:fillRect/>
          </a:stretch>
        </p:blipFill>
        <p:spPr>
          <a:xfrm>
            <a:off x="9902952" y="3200400"/>
            <a:ext cx="4050792" cy="1417320"/>
          </a:xfrm>
          <a:prstGeom prst="rect">
            <a:avLst/>
          </a:prstGeom>
        </p:spPr>
      </p:pic>
      <p:pic>
        <p:nvPicPr>
          <p:cNvPr id="7" name="Image 5" descr="preencoded.png"/>
          <p:cNvPicPr>
            <a:picLocks noChangeAspect="1"/>
          </p:cNvPicPr>
          <p:nvPr/>
        </p:nvPicPr>
        <p:blipFill>
          <a:blip r:embed="rId8"/>
          <a:stretch>
            <a:fillRect/>
          </a:stretch>
        </p:blipFill>
        <p:spPr>
          <a:xfrm>
            <a:off x="9902952" y="4818888"/>
            <a:ext cx="4050792" cy="1664208"/>
          </a:xfrm>
          <a:prstGeom prst="rect">
            <a:avLst/>
          </a:prstGeom>
        </p:spPr>
      </p:pic>
      <p:sp>
        <p:nvSpPr>
          <p:cNvPr id="8" name="Text 0"/>
          <p:cNvSpPr/>
          <p:nvPr/>
        </p:nvSpPr>
        <p:spPr>
          <a:xfrm>
            <a:off x="5660136" y="1545336"/>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10. Database Design</a:t>
            </a:r>
            <a:endParaRPr lang="en-US" sz="3840" dirty="0"/>
          </a:p>
        </p:txBody>
      </p:sp>
      <p:sp>
        <p:nvSpPr>
          <p:cNvPr id="9" name="Text 1"/>
          <p:cNvSpPr/>
          <p:nvPr/>
        </p:nvSpPr>
        <p:spPr>
          <a:xfrm>
            <a:off x="5660136" y="2377440"/>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Core Tables</a:t>
            </a:r>
            <a:endParaRPr lang="en-US" sz="3840" dirty="0"/>
          </a:p>
        </p:txBody>
      </p:sp>
      <p:sp>
        <p:nvSpPr>
          <p:cNvPr id="10" name="Text 2"/>
          <p:cNvSpPr/>
          <p:nvPr/>
        </p:nvSpPr>
        <p:spPr>
          <a:xfrm>
            <a:off x="5888736" y="3429000"/>
            <a:ext cx="360273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Admins Table</a:t>
            </a:r>
            <a:endParaRPr lang="en-US" sz="1920" dirty="0"/>
          </a:p>
        </p:txBody>
      </p:sp>
      <p:sp>
        <p:nvSpPr>
          <p:cNvPr id="11" name="Text 3"/>
          <p:cNvSpPr/>
          <p:nvPr/>
        </p:nvSpPr>
        <p:spPr>
          <a:xfrm>
            <a:off x="5888736" y="3904488"/>
            <a:ext cx="3602736"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Stores admin credentials. Fields: id, name, email, password.</a:t>
            </a:r>
            <a:endParaRPr lang="en-US" sz="1530" dirty="0"/>
          </a:p>
        </p:txBody>
      </p:sp>
      <p:sp>
        <p:nvSpPr>
          <p:cNvPr id="12" name="Text 4"/>
          <p:cNvSpPr/>
          <p:nvPr/>
        </p:nvSpPr>
        <p:spPr>
          <a:xfrm>
            <a:off x="5888736" y="5038344"/>
            <a:ext cx="360273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Hotels Table</a:t>
            </a:r>
            <a:endParaRPr lang="en-US" sz="1920" dirty="0"/>
          </a:p>
        </p:txBody>
      </p:sp>
      <p:sp>
        <p:nvSpPr>
          <p:cNvPr id="13" name="Text 5"/>
          <p:cNvSpPr/>
          <p:nvPr/>
        </p:nvSpPr>
        <p:spPr>
          <a:xfrm>
            <a:off x="5888736" y="5522976"/>
            <a:ext cx="3602736"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Stores details of each hotel. Fields: id, name, price, description, service.</a:t>
            </a:r>
            <a:endParaRPr lang="en-US" sz="1530" dirty="0"/>
          </a:p>
        </p:txBody>
      </p:sp>
      <p:sp>
        <p:nvSpPr>
          <p:cNvPr id="14" name="Text 6"/>
          <p:cNvSpPr/>
          <p:nvPr/>
        </p:nvSpPr>
        <p:spPr>
          <a:xfrm>
            <a:off x="10131552" y="3429000"/>
            <a:ext cx="360273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Users Table</a:t>
            </a:r>
            <a:endParaRPr lang="en-US" sz="1920" dirty="0"/>
          </a:p>
        </p:txBody>
      </p:sp>
      <p:sp>
        <p:nvSpPr>
          <p:cNvPr id="15" name="Text 7"/>
          <p:cNvSpPr/>
          <p:nvPr/>
        </p:nvSpPr>
        <p:spPr>
          <a:xfrm>
            <a:off x="10131552" y="3904488"/>
            <a:ext cx="3602736"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Stores user information. Fields: id, fullname, email, password.</a:t>
            </a:r>
            <a:endParaRPr lang="en-US" sz="1530" dirty="0"/>
          </a:p>
        </p:txBody>
      </p:sp>
      <p:sp>
        <p:nvSpPr>
          <p:cNvPr id="16" name="Text 8"/>
          <p:cNvSpPr/>
          <p:nvPr/>
        </p:nvSpPr>
        <p:spPr>
          <a:xfrm>
            <a:off x="10131552" y="5038344"/>
            <a:ext cx="3602736" cy="310896"/>
          </a:xfrm>
          <a:prstGeom prst="rect">
            <a:avLst/>
          </a:prstGeom>
          <a:noFill/>
          <a:ln/>
        </p:spPr>
        <p:txBody>
          <a:bodyPr wrap="none" lIns="0" tIns="0" rIns="0" bIns="0" rtlCol="0" anchor="ctr"/>
          <a:lstStyle/>
          <a:p>
            <a:pPr marL="0" indent="0" algn="l">
              <a:lnSpc>
                <a:spcPts val="2400"/>
              </a:lnSpc>
              <a:buNone/>
            </a:pPr>
            <a:r>
              <a:rPr lang="en-US" sz="1920" dirty="0">
                <a:solidFill>
                  <a:srgbClr val="FFFFFF"/>
                </a:solidFill>
                <a:latin typeface="思源黑体-思源黑体-Bold" pitchFamily="34" charset="0"/>
                <a:ea typeface="思源黑体-思源黑体-Bold" pitchFamily="34" charset="-122"/>
                <a:cs typeface="思源黑体-思源黑体-Bold" pitchFamily="34" charset="-120"/>
              </a:rPr>
              <a:t>HotelBookings Table</a:t>
            </a:r>
            <a:endParaRPr lang="en-US" sz="1920" dirty="0"/>
          </a:p>
        </p:txBody>
      </p:sp>
      <p:sp>
        <p:nvSpPr>
          <p:cNvPr id="17" name="Text 9"/>
          <p:cNvSpPr/>
          <p:nvPr/>
        </p:nvSpPr>
        <p:spPr>
          <a:xfrm>
            <a:off x="10131552" y="5522976"/>
            <a:ext cx="3602736" cy="731520"/>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 Stores booking transaction details. Fields: id, user_id (FK), hotel_id (FK), checkin_date, payment_status.</a:t>
            </a:r>
            <a:endParaRPr lang="en-US" sz="153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68849" y="40674"/>
            <a:ext cx="14630400" cy="8238744"/>
          </a:xfrm>
          <a:prstGeom prst="rect">
            <a:avLst/>
          </a:prstGeom>
        </p:spPr>
      </p:pic>
      <p:sp>
        <p:nvSpPr>
          <p:cNvPr id="4" name="Text 0"/>
          <p:cNvSpPr/>
          <p:nvPr/>
        </p:nvSpPr>
        <p:spPr>
          <a:xfrm>
            <a:off x="512379" y="55715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11. System Design Screenshots</a:t>
            </a:r>
            <a:endParaRPr lang="en-US" sz="3840" dirty="0"/>
          </a:p>
        </p:txBody>
      </p:sp>
      <p:sp>
        <p:nvSpPr>
          <p:cNvPr id="5" name="Text 1"/>
          <p:cNvSpPr/>
          <p:nvPr/>
        </p:nvSpPr>
        <p:spPr>
          <a:xfrm>
            <a:off x="512379" y="1380114"/>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Homepage &amp; Login</a:t>
            </a:r>
            <a:endParaRPr lang="en-US" sz="3840" dirty="0"/>
          </a:p>
        </p:txBody>
      </p:sp>
      <p:sp>
        <p:nvSpPr>
          <p:cNvPr id="6" name="Text 2"/>
          <p:cNvSpPr/>
          <p:nvPr/>
        </p:nvSpPr>
        <p:spPr>
          <a:xfrm>
            <a:off x="512379" y="2212218"/>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7" name="Text 3"/>
          <p:cNvSpPr/>
          <p:nvPr/>
        </p:nvSpPr>
        <p:spPr>
          <a:xfrm>
            <a:off x="512378" y="6871872"/>
            <a:ext cx="13267944" cy="493776"/>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User Interface: A clean and modern homepage (Index.php) with navigation links. Prominent "Login" button that opens a modal for user authentication. Option for new users to navigate to the registration form.</a:t>
            </a:r>
            <a:endParaRPr lang="en-US" sz="1530" dirty="0"/>
          </a:p>
        </p:txBody>
      </p:sp>
      <p:pic>
        <p:nvPicPr>
          <p:cNvPr id="8" name="Imag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378" y="2290411"/>
            <a:ext cx="5131677" cy="4283809"/>
          </a:xfrm>
          <a:prstGeom prst="rect">
            <a:avLst/>
          </a:prstGeom>
        </p:spPr>
      </p:pic>
      <p:pic>
        <p:nvPicPr>
          <p:cNvPr id="9" name="Picture 8"/>
          <p:cNvPicPr>
            <a:picLocks noChangeAspect="1"/>
          </p:cNvPicPr>
          <p:nvPr/>
        </p:nvPicPr>
        <p:blipFill>
          <a:blip r:embed="rId5"/>
          <a:stretch>
            <a:fillRect/>
          </a:stretch>
        </p:blipFill>
        <p:spPr>
          <a:xfrm>
            <a:off x="5880539" y="2290412"/>
            <a:ext cx="8450316" cy="4283809"/>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322576"/>
          </a:xfrm>
          <a:prstGeom prst="rect">
            <a:avLst/>
          </a:prstGeom>
        </p:spPr>
      </p:pic>
      <p:sp>
        <p:nvSpPr>
          <p:cNvPr id="4" name="Text 0"/>
          <p:cNvSpPr/>
          <p:nvPr/>
        </p:nvSpPr>
        <p:spPr>
          <a:xfrm>
            <a:off x="681228" y="2542032"/>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Hotel Search &amp; Booking</a:t>
            </a:r>
            <a:endParaRPr lang="en-US" sz="3840" dirty="0"/>
          </a:p>
        </p:txBody>
      </p:sp>
      <p:sp>
        <p:nvSpPr>
          <p:cNvPr id="5" name="Text 1"/>
          <p:cNvSpPr/>
          <p:nvPr/>
        </p:nvSpPr>
        <p:spPr>
          <a:xfrm>
            <a:off x="685800" y="4983480"/>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6" name="Text 2"/>
          <p:cNvSpPr/>
          <p:nvPr/>
        </p:nvSpPr>
        <p:spPr>
          <a:xfrm>
            <a:off x="681228" y="6506114"/>
            <a:ext cx="13267944" cy="731520"/>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Booking Process: After logging in, users can access the search functionality with filters for Destination, Check-in/Check-out dates, and Price Limit. Users can view hotel listings and click </a:t>
            </a: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a:t>
            </a: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Search</a:t>
            </a: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 </a:t>
            </a: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The hotel detail page shows amenities, price, and a form to finalize the booking dates and number of guests.</a:t>
            </a:r>
            <a:endParaRPr lang="en-US" sz="1530" dirty="0"/>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52194" y="3249677"/>
            <a:ext cx="8326012" cy="3067478"/>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8576441" y="655688"/>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My Bookings &amp; Payment</a:t>
            </a:r>
            <a:endParaRPr lang="en-US" sz="3840" dirty="0"/>
          </a:p>
        </p:txBody>
      </p:sp>
      <p:sp>
        <p:nvSpPr>
          <p:cNvPr id="6" name="Text 2"/>
          <p:cNvSpPr/>
          <p:nvPr/>
        </p:nvSpPr>
        <p:spPr>
          <a:xfrm>
            <a:off x="8576441" y="1576394"/>
            <a:ext cx="5612210" cy="2254942"/>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Post-Booking: After a booking is confirmed, it appears in the "My Hotel Bookings" section with its status (e.g., Pending). </a:t>
            </a:r>
            <a:endPar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endParaRPr>
          </a:p>
          <a:p>
            <a:pPr marL="0" indent="0" algn="l">
              <a:lnSpc>
                <a:spcPts val="1920"/>
              </a:lnSpc>
              <a:buNone/>
            </a:pPr>
            <a:endPar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endParaRPr>
          </a:p>
          <a:p>
            <a:pPr marL="0" indent="0" algn="l">
              <a:lnSpc>
                <a:spcPts val="1920"/>
              </a:lnSpc>
              <a:buNone/>
            </a:pP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Users </a:t>
            </a: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have options to "Cancel Booking" or "Pay Now". </a:t>
            </a:r>
            <a:endPar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endParaRPr>
          </a:p>
          <a:p>
            <a:pPr marL="0" indent="0" algn="l">
              <a:lnSpc>
                <a:spcPts val="1920"/>
              </a:lnSpc>
              <a:buNone/>
            </a:pPr>
            <a:endPar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endParaRPr>
          </a:p>
          <a:p>
            <a:pPr marL="0" indent="0" algn="l">
              <a:lnSpc>
                <a:spcPts val="1920"/>
              </a:lnSpc>
              <a:buNone/>
            </a:pP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The </a:t>
            </a: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payment page offers secure options, including QR code scan and credit card payment, to complete the transaction. </a:t>
            </a:r>
            <a:endPar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endParaRPr>
          </a:p>
          <a:p>
            <a:pPr marL="0" indent="0" algn="l">
              <a:lnSpc>
                <a:spcPts val="1920"/>
              </a:lnSpc>
              <a:buNone/>
            </a:pPr>
            <a:r>
              <a:rPr lang="en-US" sz="1530" dirty="0" smtClean="0">
                <a:solidFill>
                  <a:srgbClr val="FFFFFF"/>
                </a:solidFill>
                <a:latin typeface="思源黑体-思源黑体-Medium" pitchFamily="34" charset="0"/>
                <a:ea typeface="思源黑体-思源黑体-Medium" pitchFamily="34" charset="-122"/>
                <a:cs typeface="思源黑体-思源黑体-Medium" pitchFamily="34" charset="-120"/>
              </a:rPr>
              <a:t>Once </a:t>
            </a: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paid, the booking status updates to "Paid Successfully".</a:t>
            </a:r>
            <a:endParaRPr lang="en-US" sz="1530"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8261131" cy="823874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473280" y="445849"/>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Admin Login &amp; Dashboard</a:t>
            </a:r>
            <a:endParaRPr lang="en-US" sz="3840" dirty="0"/>
          </a:p>
        </p:txBody>
      </p:sp>
      <p:sp>
        <p:nvSpPr>
          <p:cNvPr id="6" name="Text 2"/>
          <p:cNvSpPr/>
          <p:nvPr/>
        </p:nvSpPr>
        <p:spPr>
          <a:xfrm>
            <a:off x="473280" y="1058497"/>
            <a:ext cx="8293608" cy="978408"/>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Admin Interface: A dedicated and secure login page for administrators. The main dashboard provides a comprehensive overview of key metrics: Number of Orders/Bookings, Subscribers/Users, Total Revenue, List of New Customers, Recent Transaction History.</a:t>
            </a:r>
            <a:endParaRPr lang="en-US" sz="1530" dirty="0"/>
          </a:p>
        </p:txBody>
      </p:sp>
      <p:pic>
        <p:nvPicPr>
          <p:cNvPr id="7" name="Picture 6"/>
          <p:cNvPicPr>
            <a:picLocks noChangeAspect="1"/>
          </p:cNvPicPr>
          <p:nvPr/>
        </p:nvPicPr>
        <p:blipFill>
          <a:blip r:embed="rId4"/>
          <a:stretch>
            <a:fillRect/>
          </a:stretch>
        </p:blipFill>
        <p:spPr>
          <a:xfrm>
            <a:off x="473280" y="2036905"/>
            <a:ext cx="4982270" cy="4496427"/>
          </a:xfrm>
          <a:prstGeom prst="rect">
            <a:avLst/>
          </a:prstGeom>
        </p:spPr>
      </p:pic>
      <p:pic>
        <p:nvPicPr>
          <p:cNvPr id="8" name="Picture 7"/>
          <p:cNvPicPr>
            <a:picLocks noChangeAspect="1"/>
          </p:cNvPicPr>
          <p:nvPr/>
        </p:nvPicPr>
        <p:blipFill>
          <a:blip r:embed="rId5"/>
          <a:stretch>
            <a:fillRect/>
          </a:stretch>
        </p:blipFill>
        <p:spPr>
          <a:xfrm>
            <a:off x="5738648" y="2054129"/>
            <a:ext cx="8734097" cy="4479203"/>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4" name="Text 0"/>
          <p:cNvSpPr/>
          <p:nvPr/>
        </p:nvSpPr>
        <p:spPr>
          <a:xfrm>
            <a:off x="685800" y="266437"/>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Admin Management</a:t>
            </a:r>
            <a:endParaRPr lang="en-US" sz="3840" dirty="0"/>
          </a:p>
        </p:txBody>
      </p:sp>
      <p:sp>
        <p:nvSpPr>
          <p:cNvPr id="5" name="Text 1"/>
          <p:cNvSpPr/>
          <p:nvPr/>
        </p:nvSpPr>
        <p:spPr>
          <a:xfrm>
            <a:off x="685800" y="4983480"/>
            <a:ext cx="13267944"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6" name="Text 2"/>
          <p:cNvSpPr/>
          <p:nvPr/>
        </p:nvSpPr>
        <p:spPr>
          <a:xfrm>
            <a:off x="685800" y="7284928"/>
            <a:ext cx="13267944" cy="731520"/>
          </a:xfrm>
          <a:prstGeom prst="rect">
            <a:avLst/>
          </a:prstGeom>
          <a:noFill/>
          <a:ln/>
        </p:spPr>
        <p:txBody>
          <a:bodyPr wrap="squar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Management Capabilities: Admins can view, edit, and delete services offered by hotels. Admins can view a detailed list of all bookings, including user name, hotel, check-in/out dates, and payment status. Functionality to search and filter through records is provided for efficient management. Admins have the ability to delete bookings directly from the "Booking Details" page.</a:t>
            </a:r>
            <a:endParaRPr lang="en-US" sz="1530" dirty="0"/>
          </a:p>
        </p:txBody>
      </p:sp>
      <p:pic>
        <p:nvPicPr>
          <p:cNvPr id="7" name="Picture 6"/>
          <p:cNvPicPr>
            <a:picLocks noChangeAspect="1"/>
          </p:cNvPicPr>
          <p:nvPr/>
        </p:nvPicPr>
        <p:blipFill>
          <a:blip r:embed="rId4"/>
          <a:stretch>
            <a:fillRect/>
          </a:stretch>
        </p:blipFill>
        <p:spPr>
          <a:xfrm>
            <a:off x="100810" y="902575"/>
            <a:ext cx="7372045" cy="4032970"/>
          </a:xfrm>
          <a:prstGeom prst="rect">
            <a:avLst/>
          </a:prstGeom>
        </p:spPr>
      </p:pic>
      <p:pic>
        <p:nvPicPr>
          <p:cNvPr id="8" name="Picture 7"/>
          <p:cNvPicPr>
            <a:picLocks noChangeAspect="1"/>
          </p:cNvPicPr>
          <p:nvPr/>
        </p:nvPicPr>
        <p:blipFill rotWithShape="1">
          <a:blip r:embed="rId5"/>
          <a:srcRect b="6344"/>
          <a:stretch/>
        </p:blipFill>
        <p:spPr>
          <a:xfrm>
            <a:off x="8158655" y="879085"/>
            <a:ext cx="5795089" cy="4056460"/>
          </a:xfrm>
          <a:prstGeom prst="rect">
            <a:avLst/>
          </a:prstGeom>
        </p:spPr>
      </p:pic>
      <p:pic>
        <p:nvPicPr>
          <p:cNvPr id="10" name="Picture 9"/>
          <p:cNvPicPr>
            <a:picLocks noChangeAspect="1"/>
          </p:cNvPicPr>
          <p:nvPr/>
        </p:nvPicPr>
        <p:blipFill>
          <a:blip r:embed="rId6"/>
          <a:stretch>
            <a:fillRect/>
          </a:stretch>
        </p:blipFill>
        <p:spPr>
          <a:xfrm>
            <a:off x="5439103" y="4983479"/>
            <a:ext cx="4367049" cy="2301449"/>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56064"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704088" y="3410712"/>
            <a:ext cx="2606040" cy="438912"/>
          </a:xfrm>
          <a:prstGeom prst="rect">
            <a:avLst/>
          </a:prstGeom>
        </p:spPr>
      </p:pic>
      <p:pic>
        <p:nvPicPr>
          <p:cNvPr id="5" name="Image 3" descr="preencoded.png"/>
          <p:cNvPicPr>
            <a:picLocks noChangeAspect="1"/>
          </p:cNvPicPr>
          <p:nvPr/>
        </p:nvPicPr>
        <p:blipFill>
          <a:blip r:embed="rId5"/>
          <a:stretch>
            <a:fillRect/>
          </a:stretch>
        </p:blipFill>
        <p:spPr>
          <a:xfrm>
            <a:off x="704088" y="4078224"/>
            <a:ext cx="2606040" cy="438912"/>
          </a:xfrm>
          <a:prstGeom prst="rect">
            <a:avLst/>
          </a:prstGeom>
        </p:spPr>
      </p:pic>
      <p:pic>
        <p:nvPicPr>
          <p:cNvPr id="6" name="Image 4" descr="preencoded.png"/>
          <p:cNvPicPr>
            <a:picLocks noChangeAspect="1"/>
          </p:cNvPicPr>
          <p:nvPr/>
        </p:nvPicPr>
        <p:blipFill>
          <a:blip r:embed="rId6"/>
          <a:stretch>
            <a:fillRect/>
          </a:stretch>
        </p:blipFill>
        <p:spPr>
          <a:xfrm>
            <a:off x="3529584" y="3410712"/>
            <a:ext cx="2606040" cy="438912"/>
          </a:xfrm>
          <a:prstGeom prst="rect">
            <a:avLst/>
          </a:prstGeom>
        </p:spPr>
      </p:pic>
      <p:pic>
        <p:nvPicPr>
          <p:cNvPr id="7" name="Image 5" descr="preencoded.png"/>
          <p:cNvPicPr>
            <a:picLocks noChangeAspect="1"/>
          </p:cNvPicPr>
          <p:nvPr/>
        </p:nvPicPr>
        <p:blipFill>
          <a:blip r:embed="rId6"/>
          <a:stretch>
            <a:fillRect/>
          </a:stretch>
        </p:blipFill>
        <p:spPr>
          <a:xfrm>
            <a:off x="3529584" y="4078224"/>
            <a:ext cx="2606040" cy="438912"/>
          </a:xfrm>
          <a:prstGeom prst="rect">
            <a:avLst/>
          </a:prstGeom>
        </p:spPr>
      </p:pic>
      <p:pic>
        <p:nvPicPr>
          <p:cNvPr id="8" name="Image 6" descr="preencoded.png"/>
          <p:cNvPicPr>
            <a:picLocks noChangeAspect="1"/>
          </p:cNvPicPr>
          <p:nvPr/>
        </p:nvPicPr>
        <p:blipFill>
          <a:blip r:embed="rId7"/>
          <a:stretch>
            <a:fillRect/>
          </a:stretch>
        </p:blipFill>
        <p:spPr>
          <a:xfrm>
            <a:off x="6355080" y="3410712"/>
            <a:ext cx="2606040" cy="438912"/>
          </a:xfrm>
          <a:prstGeom prst="rect">
            <a:avLst/>
          </a:prstGeom>
        </p:spPr>
      </p:pic>
      <p:pic>
        <p:nvPicPr>
          <p:cNvPr id="9" name="Image 7" descr="preencoded.png"/>
          <p:cNvPicPr>
            <a:picLocks noChangeAspect="1"/>
          </p:cNvPicPr>
          <p:nvPr/>
        </p:nvPicPr>
        <p:blipFill>
          <a:blip r:embed="rId7"/>
          <a:stretch>
            <a:fillRect/>
          </a:stretch>
        </p:blipFill>
        <p:spPr>
          <a:xfrm>
            <a:off x="6355080" y="4078224"/>
            <a:ext cx="2606040" cy="438912"/>
          </a:xfrm>
          <a:prstGeom prst="rect">
            <a:avLst/>
          </a:prstGeom>
        </p:spPr>
      </p:pic>
      <p:sp>
        <p:nvSpPr>
          <p:cNvPr id="10" name="Text 0"/>
          <p:cNvSpPr/>
          <p:nvPr/>
        </p:nvSpPr>
        <p:spPr>
          <a:xfrm>
            <a:off x="685800" y="2569464"/>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FFFFFF"/>
                </a:solidFill>
                <a:latin typeface="思源黑体-思源黑体-Bold" pitchFamily="34" charset="0"/>
                <a:ea typeface="思源黑体-思源黑体-Bold" pitchFamily="34" charset="-122"/>
                <a:cs typeface="思源黑体-思源黑体-Bold" pitchFamily="34" charset="-120"/>
              </a:rPr>
              <a:t>12. References</a:t>
            </a:r>
            <a:endParaRPr lang="en-US" sz="3840" dirty="0"/>
          </a:p>
        </p:txBody>
      </p:sp>
      <p:sp>
        <p:nvSpPr>
          <p:cNvPr id="11" name="Text 1"/>
          <p:cNvSpPr/>
          <p:nvPr/>
        </p:nvSpPr>
        <p:spPr>
          <a:xfrm>
            <a:off x="896112" y="3511296"/>
            <a:ext cx="2221992"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w3schools.com</a:t>
            </a:r>
            <a:endParaRPr lang="en-US" sz="1530" dirty="0"/>
          </a:p>
        </p:txBody>
      </p:sp>
      <p:sp>
        <p:nvSpPr>
          <p:cNvPr id="12" name="Text 2"/>
          <p:cNvSpPr/>
          <p:nvPr/>
        </p:nvSpPr>
        <p:spPr>
          <a:xfrm>
            <a:off x="896112" y="4169664"/>
            <a:ext cx="2221992"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tutorialspoint.com</a:t>
            </a:r>
            <a:endParaRPr lang="en-US" sz="1530" dirty="0"/>
          </a:p>
        </p:txBody>
      </p:sp>
      <p:sp>
        <p:nvSpPr>
          <p:cNvPr id="13" name="Text 3"/>
          <p:cNvSpPr/>
          <p:nvPr/>
        </p:nvSpPr>
        <p:spPr>
          <a:xfrm>
            <a:off x="2554013" y="5212080"/>
            <a:ext cx="8416106" cy="1433401"/>
          </a:xfrm>
          <a:prstGeom prst="rect">
            <a:avLst/>
          </a:prstGeom>
          <a:noFill/>
          <a:ln/>
        </p:spPr>
        <p:txBody>
          <a:bodyPr wrap="none" lIns="0" tIns="0" rIns="0" bIns="0" rtlCol="0" anchor="ctr"/>
          <a:lstStyle/>
          <a:p>
            <a:pPr marL="0" indent="0" algn="l">
              <a:lnSpc>
                <a:spcPts val="1920"/>
              </a:lnSpc>
              <a:buNone/>
            </a:pPr>
            <a:r>
              <a:rPr lang="en-US" sz="8800" dirty="0">
                <a:solidFill>
                  <a:srgbClr val="FFFFFF"/>
                </a:solidFill>
                <a:latin typeface="Vladimir Script" panose="03050402040407070305" pitchFamily="66" charset="0"/>
                <a:ea typeface="思源黑体-思源黑体-Medium" pitchFamily="34" charset="-122"/>
                <a:cs typeface="思源黑体-思源黑体-Medium" pitchFamily="34" charset="-120"/>
              </a:rPr>
              <a:t>Thank</a:t>
            </a:r>
            <a:r>
              <a:rPr lang="en-US" sz="8800" dirty="0">
                <a:solidFill>
                  <a:srgbClr val="FFFFFF"/>
                </a:solidFill>
                <a:latin typeface="思源黑体-思源黑体-Medium" pitchFamily="34" charset="0"/>
                <a:ea typeface="思源黑体-思源黑体-Medium" pitchFamily="34" charset="-122"/>
                <a:cs typeface="思源黑体-思源黑体-Medium" pitchFamily="34" charset="-120"/>
              </a:rPr>
              <a:t> </a:t>
            </a:r>
            <a:r>
              <a:rPr lang="en-US" sz="8800" dirty="0">
                <a:solidFill>
                  <a:srgbClr val="FFFFFF"/>
                </a:solidFill>
                <a:latin typeface="Vladimir Script" panose="03050402040407070305" pitchFamily="66" charset="0"/>
                <a:ea typeface="思源黑体-思源黑体-Medium" pitchFamily="34" charset="-122"/>
                <a:cs typeface="思源黑体-思源黑体-Medium" pitchFamily="34" charset="-120"/>
              </a:rPr>
              <a:t>You.</a:t>
            </a:r>
            <a:endParaRPr lang="en-US" sz="8800" dirty="0">
              <a:latin typeface="Vladimir Script" panose="03050402040407070305" pitchFamily="66" charset="0"/>
            </a:endParaRPr>
          </a:p>
        </p:txBody>
      </p:sp>
      <p:sp>
        <p:nvSpPr>
          <p:cNvPr id="14" name="Text 4"/>
          <p:cNvSpPr/>
          <p:nvPr/>
        </p:nvSpPr>
        <p:spPr>
          <a:xfrm>
            <a:off x="3721608" y="3511296"/>
            <a:ext cx="2221992"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dribbble.com</a:t>
            </a:r>
            <a:endParaRPr lang="en-US" sz="1530" dirty="0"/>
          </a:p>
        </p:txBody>
      </p:sp>
      <p:sp>
        <p:nvSpPr>
          <p:cNvPr id="15" name="Text 5"/>
          <p:cNvSpPr/>
          <p:nvPr/>
        </p:nvSpPr>
        <p:spPr>
          <a:xfrm>
            <a:off x="685800" y="5212080"/>
            <a:ext cx="8293608" cy="246888"/>
          </a:xfrm>
          <a:prstGeom prst="rect">
            <a:avLst/>
          </a:prstGeom>
          <a:noFill/>
          <a:ln/>
        </p:spPr>
        <p:txBody>
          <a:bodyPr wrap="none" lIns="0" tIns="0" rIns="0" bIns="0" rtlCol="0" anchor="ctr"/>
          <a:lstStyle/>
          <a:p>
            <a:pPr marL="0" indent="0" algn="l">
              <a:lnSpc>
                <a:spcPts val="1920"/>
              </a:lnSpc>
              <a:buNone/>
            </a:pPr>
            <a:endParaRPr lang="en-US" sz="1530" dirty="0"/>
          </a:p>
        </p:txBody>
      </p:sp>
      <p:sp>
        <p:nvSpPr>
          <p:cNvPr id="16" name="Text 6"/>
          <p:cNvSpPr/>
          <p:nvPr/>
        </p:nvSpPr>
        <p:spPr>
          <a:xfrm>
            <a:off x="3721608" y="4169664"/>
            <a:ext cx="2221992"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php.net</a:t>
            </a:r>
            <a:endParaRPr lang="en-US" sz="1530" dirty="0"/>
          </a:p>
        </p:txBody>
      </p:sp>
      <p:sp>
        <p:nvSpPr>
          <p:cNvPr id="17" name="Text 7"/>
          <p:cNvSpPr/>
          <p:nvPr/>
        </p:nvSpPr>
        <p:spPr>
          <a:xfrm>
            <a:off x="6556248" y="3511296"/>
            <a:ext cx="2221992"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github.com</a:t>
            </a:r>
            <a:endParaRPr lang="en-US" sz="1530" dirty="0"/>
          </a:p>
        </p:txBody>
      </p:sp>
      <p:sp>
        <p:nvSpPr>
          <p:cNvPr id="18" name="Text 8"/>
          <p:cNvSpPr/>
          <p:nvPr/>
        </p:nvSpPr>
        <p:spPr>
          <a:xfrm>
            <a:off x="6556248" y="4169664"/>
            <a:ext cx="2221992" cy="246888"/>
          </a:xfrm>
          <a:prstGeom prst="rect">
            <a:avLst/>
          </a:prstGeom>
          <a:noFill/>
          <a:ln/>
        </p:spPr>
        <p:txBody>
          <a:bodyPr wrap="none" lIns="0" tIns="0" rIns="0" bIns="0" rtlCol="0" anchor="ctr"/>
          <a:lstStyle/>
          <a:p>
            <a:pPr marL="0" indent="0" algn="l">
              <a:lnSpc>
                <a:spcPts val="1920"/>
              </a:lnSpc>
              <a:buNone/>
            </a:pPr>
            <a:r>
              <a:rPr lang="en-US" sz="1530" dirty="0">
                <a:solidFill>
                  <a:srgbClr val="FFFFFF"/>
                </a:solidFill>
                <a:latin typeface="思源黑体-思源黑体-Medium" pitchFamily="34" charset="0"/>
                <a:ea typeface="思源黑体-思源黑体-Medium" pitchFamily="34" charset="-122"/>
                <a:cs typeface="思源黑体-思源黑体-Medium" pitchFamily="34" charset="-120"/>
              </a:rPr>
              <a:t>geeksforgeeks.org</a:t>
            </a:r>
            <a:endParaRPr lang="en-US" sz="153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1383</Words>
  <Application>Microsoft Office PowerPoint</Application>
  <PresentationFormat>Custom</PresentationFormat>
  <Paragraphs>178</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Bahnschrift</vt:lpstr>
      <vt:lpstr>Calibri</vt:lpstr>
      <vt:lpstr>Vladimir Script</vt:lpstr>
      <vt:lpstr>思源黑体-思源黑体-Bold</vt:lpstr>
      <vt:lpstr>思源黑体-思源黑体-Medium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Avadh Narola</cp:lastModifiedBy>
  <cp:revision>34</cp:revision>
  <dcterms:created xsi:type="dcterms:W3CDTF">2025-10-01T14:12:55Z</dcterms:created>
  <dcterms:modified xsi:type="dcterms:W3CDTF">2025-10-02T05:24:55Z</dcterms:modified>
</cp:coreProperties>
</file>